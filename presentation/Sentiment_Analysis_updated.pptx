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4b1372710d4d79" /><Relationship Type="http://schemas.openxmlformats.org/officeDocument/2006/relationships/extended-properties" Target="/docProps/app.xml" Id="R913d1c449c7e4856" /><Relationship Type="http://schemas.openxmlformats.org/officeDocument/2006/relationships/officeDocument" Target="/ppt/presentation.xml" Id="R46f424835d3343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8ff3fd1934448"/>
  </p:sldMasterIdLst>
  <p:notesMasterIdLst>
    <p:notesMasterId xmlns:r="http://schemas.openxmlformats.org/officeDocument/2006/relationships" r:id="R5291cda4d50342fe"/>
  </p:notesMasterIdLst>
  <p:sldIdLst>
    <p:sldId xmlns:r="http://schemas.openxmlformats.org/officeDocument/2006/relationships" id="256" r:id="R8a6b0865c9b541d1"/>
    <p:sldId xmlns:r="http://schemas.openxmlformats.org/officeDocument/2006/relationships" id="257" r:id="Red8eff9965c8487f"/>
    <p:sldId xmlns:r="http://schemas.openxmlformats.org/officeDocument/2006/relationships" id="258" r:id="R80667634ab774d87"/>
    <p:sldId xmlns:r="http://schemas.openxmlformats.org/officeDocument/2006/relationships" id="259" r:id="R582e52c84269405f"/>
    <p:sldId xmlns:r="http://schemas.openxmlformats.org/officeDocument/2006/relationships" id="260" r:id="R5364efe10a484570"/>
    <p:sldId xmlns:r="http://schemas.openxmlformats.org/officeDocument/2006/relationships" id="261" r:id="R5d372b058fa04c66"/>
    <p:sldId xmlns:r="http://schemas.openxmlformats.org/officeDocument/2006/relationships" id="262" r:id="Rb98eb3d0fe4b4b54"/>
    <p:sldId xmlns:r="http://schemas.openxmlformats.org/officeDocument/2006/relationships" id="263" r:id="Rd5fa5537bc8a4a14"/>
    <p:sldId xmlns:r="http://schemas.openxmlformats.org/officeDocument/2006/relationships" id="264" r:id="Rcff362fda4d745cf"/>
    <p:sldId xmlns:r="http://schemas.openxmlformats.org/officeDocument/2006/relationships" id="265" r:id="Ra1f452c339fe438f"/>
    <p:sldId xmlns:r="http://schemas.openxmlformats.org/officeDocument/2006/relationships" id="266" r:id="R348d8d0ecc8a4ac3"/>
    <p:sldId xmlns:r="http://schemas.openxmlformats.org/officeDocument/2006/relationships" id="267" r:id="Rf938ada7ccdd411c"/>
    <p:sldId xmlns:r="http://schemas.openxmlformats.org/officeDocument/2006/relationships" id="268" r:id="R194b763448e34d0c"/>
    <p:sldId xmlns:r="http://schemas.openxmlformats.org/officeDocument/2006/relationships" id="269" r:id="R0515c8598ffb4be4"/>
    <p:sldId xmlns:r="http://schemas.openxmlformats.org/officeDocument/2006/relationships" id="270" r:id="Re2db1c84d4bd4adf"/>
    <p:sldId xmlns:r="http://schemas.openxmlformats.org/officeDocument/2006/relationships" id="271" r:id="R5a19a376bc904507"/>
    <p:sldId xmlns:r="http://schemas.openxmlformats.org/officeDocument/2006/relationships" id="272" r:id="R18c4c5abdf704901"/>
    <p:sldId xmlns:r="http://schemas.openxmlformats.org/officeDocument/2006/relationships" id="273" r:id="R592b47c1848d49e3"/>
    <p:sldId xmlns:r="http://schemas.openxmlformats.org/officeDocument/2006/relationships" id="274" r:id="R75695eea2af94b0a"/>
    <p:sldId xmlns:r="http://schemas.openxmlformats.org/officeDocument/2006/relationships" id="275" r:id="R3789cf92a6fa49d4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8028800" cy="780288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21025a591445eb" /><Relationship Type="http://schemas.openxmlformats.org/officeDocument/2006/relationships/slideMaster" Target="/ppt/slideMasters/slideMaster1.xml" Id="R4a58ff3fd1934448" /><Relationship Type="http://schemas.openxmlformats.org/officeDocument/2006/relationships/notesMaster" Target="/ppt/notesMasters/notesMaster1.xml" Id="R5291cda4d50342fe" /><Relationship Type="http://schemas.openxmlformats.org/officeDocument/2006/relationships/presProps" Target="/ppt/presProps.xml" Id="Rd9376e3805ee4483" /><Relationship Type="http://schemas.openxmlformats.org/officeDocument/2006/relationships/viewProps" Target="/ppt/viewProps.xml" Id="Reddea56b58344496" /><Relationship Type="http://schemas.openxmlformats.org/officeDocument/2006/relationships/tableStyles" Target="/ppt/tableStyles.xml" Id="R91fbb7cd1bcb430e" /><Relationship Type="http://schemas.openxmlformats.org/officeDocument/2006/relationships/slide" Target="/ppt/slides/slide1.xml" Id="R8a6b0865c9b541d1" /><Relationship Type="http://schemas.openxmlformats.org/officeDocument/2006/relationships/slide" Target="/ppt/slides/slide2.xml" Id="Red8eff9965c8487f" /><Relationship Type="http://schemas.openxmlformats.org/officeDocument/2006/relationships/slide" Target="/ppt/slides/slide3.xml" Id="R80667634ab774d87" /><Relationship Type="http://schemas.openxmlformats.org/officeDocument/2006/relationships/slide" Target="/ppt/slides/slide4.xml" Id="R582e52c84269405f" /><Relationship Type="http://schemas.openxmlformats.org/officeDocument/2006/relationships/slide" Target="/ppt/slides/slide5.xml" Id="R5364efe10a484570" /><Relationship Type="http://schemas.openxmlformats.org/officeDocument/2006/relationships/slide" Target="/ppt/slides/slide6.xml" Id="R5d372b058fa04c66" /><Relationship Type="http://schemas.openxmlformats.org/officeDocument/2006/relationships/slide" Target="/ppt/slides/slide7.xml" Id="Rb98eb3d0fe4b4b54" /><Relationship Type="http://schemas.openxmlformats.org/officeDocument/2006/relationships/slide" Target="/ppt/slides/slide8.xml" Id="Rd5fa5537bc8a4a14" /><Relationship Type="http://schemas.openxmlformats.org/officeDocument/2006/relationships/slide" Target="/ppt/slides/slide9.xml" Id="Rcff362fda4d745cf" /><Relationship Type="http://schemas.openxmlformats.org/officeDocument/2006/relationships/slide" Target="/ppt/slides/slide10.xml" Id="Ra1f452c339fe438f" /><Relationship Type="http://schemas.openxmlformats.org/officeDocument/2006/relationships/slide" Target="/ppt/slides/slide11.xml" Id="R348d8d0ecc8a4ac3" /><Relationship Type="http://schemas.openxmlformats.org/officeDocument/2006/relationships/slide" Target="/ppt/slides/slide12.xml" Id="Rf938ada7ccdd411c" /><Relationship Type="http://schemas.openxmlformats.org/officeDocument/2006/relationships/slide" Target="/ppt/slides/slide13.xml" Id="R194b763448e34d0c" /><Relationship Type="http://schemas.openxmlformats.org/officeDocument/2006/relationships/slide" Target="/ppt/slides/slide14.xml" Id="R0515c8598ffb4be4" /><Relationship Type="http://schemas.openxmlformats.org/officeDocument/2006/relationships/slide" Target="/ppt/slides/slide15.xml" Id="Re2db1c84d4bd4adf" /><Relationship Type="http://schemas.openxmlformats.org/officeDocument/2006/relationships/slide" Target="/ppt/slides/slide16.xml" Id="R5a19a376bc904507" /><Relationship Type="http://schemas.openxmlformats.org/officeDocument/2006/relationships/slide" Target="/ppt/slides/slide17.xml" Id="R18c4c5abdf704901" /><Relationship Type="http://schemas.openxmlformats.org/officeDocument/2006/relationships/slide" Target="/ppt/slides/slide18.xml" Id="R592b47c1848d49e3" /><Relationship Type="http://schemas.openxmlformats.org/officeDocument/2006/relationships/slide" Target="/ppt/slides/slide19.xml" Id="R75695eea2af94b0a" /><Relationship Type="http://schemas.openxmlformats.org/officeDocument/2006/relationships/slide" Target="/ppt/slides/slide20.xml" Id="R3789cf92a6fa49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8151c722cd46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570a44b5834a2b" /><Relationship Type="http://schemas.openxmlformats.org/officeDocument/2006/relationships/notesMaster" Target="/ppt/notesMasters/notesMaster1.xml" Id="Ra2bba3698ace4a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630f99091f477e" /><Relationship Type="http://schemas.openxmlformats.org/officeDocument/2006/relationships/notesMaster" Target="/ppt/notesMasters/notesMaster1.xml" Id="R81c599b6d66648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eee7fa9e184c07" /><Relationship Type="http://schemas.openxmlformats.org/officeDocument/2006/relationships/notesMaster" Target="/ppt/notesMasters/notesMaster1.xml" Id="Rbca4add6be904e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3bec4c197e4c33" /><Relationship Type="http://schemas.openxmlformats.org/officeDocument/2006/relationships/notesMaster" Target="/ppt/notesMasters/notesMaster1.xml" Id="R6a9fe983988f46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a62ddb22b54d50" /><Relationship Type="http://schemas.openxmlformats.org/officeDocument/2006/relationships/notesMaster" Target="/ppt/notesMasters/notesMaster1.xml" Id="R1d5e80d1223e43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fdbb1263e94f55" /><Relationship Type="http://schemas.openxmlformats.org/officeDocument/2006/relationships/notesMaster" Target="/ppt/notesMasters/notesMaster1.xml" Id="Rcad6f964efb440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40aed1398b41f2" /><Relationship Type="http://schemas.openxmlformats.org/officeDocument/2006/relationships/notesMaster" Target="/ppt/notesMasters/notesMaster1.xml" Id="R6696a6e1402543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6e1be10474496b" /><Relationship Type="http://schemas.openxmlformats.org/officeDocument/2006/relationships/notesMaster" Target="/ppt/notesMasters/notesMaster1.xml" Id="R0ed7c95c948a4a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dc6f692b0943d7" /><Relationship Type="http://schemas.openxmlformats.org/officeDocument/2006/relationships/notesMaster" Target="/ppt/notesMasters/notesMaster1.xml" Id="R2679a8dcafcc47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c4816db9f142c8" /><Relationship Type="http://schemas.openxmlformats.org/officeDocument/2006/relationships/notesMaster" Target="/ppt/notesMasters/notesMaster1.xml" Id="R2d07d07fbc774e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07ac73a50f408d" /><Relationship Type="http://schemas.openxmlformats.org/officeDocument/2006/relationships/notesMaster" Target="/ppt/notesMasters/notesMaster1.xml" Id="R9df5cbe8b88b44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528143fcf84507" /><Relationship Type="http://schemas.openxmlformats.org/officeDocument/2006/relationships/notesMaster" Target="/ppt/notesMasters/notesMaster1.xml" Id="R184355886dfc40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ddd4f28a8240a2" /><Relationship Type="http://schemas.openxmlformats.org/officeDocument/2006/relationships/notesMaster" Target="/ppt/notesMasters/notesMaster1.xml" Id="Rb9612bb74ae243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ff30b377854de5" /><Relationship Type="http://schemas.openxmlformats.org/officeDocument/2006/relationships/notesMaster" Target="/ppt/notesMasters/notesMaster1.xml" Id="Rdc84221dab9c42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088afbdeca4e26" /><Relationship Type="http://schemas.openxmlformats.org/officeDocument/2006/relationships/notesMaster" Target="/ppt/notesMasters/notesMaster1.xml" Id="R26cba8604f7940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a96ef2fae34aba" /><Relationship Type="http://schemas.openxmlformats.org/officeDocument/2006/relationships/notesMaster" Target="/ppt/notesMasters/notesMaster1.xml" Id="Rc126be3fdb754f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4d9c0d2656436a" /><Relationship Type="http://schemas.openxmlformats.org/officeDocument/2006/relationships/notesMaster" Target="/ppt/notesMasters/notesMaster1.xml" Id="Rd64480d35bb74e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be75df69664035" /><Relationship Type="http://schemas.openxmlformats.org/officeDocument/2006/relationships/notesMaster" Target="/ppt/notesMasters/notesMaster1.xml" Id="Rc6cf20c0318b47d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8148d10ae04772" /><Relationship Type="http://schemas.openxmlformats.org/officeDocument/2006/relationships/notesMaster" Target="/ppt/notesMasters/notesMaster1.xml" Id="Rdcde6f04fb1842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7452ad43184eb8" /><Relationship Type="http://schemas.openxmlformats.org/officeDocument/2006/relationships/notesMaster" Target="/ppt/notesMasters/notesMaster1.xml" Id="R47368b98e1b042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counts and class distribution: artifacts/sentiment.json.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Results: artifacts/sentiment.json. Metrics use 3,529 cleaned test texts.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Results: artifacts/sentiment.json. Metrics use 3,529 cleaned test texts.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and voting rule: artifacts/sentiment.json and sentiment.py.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follows the current repository evaluation report, artifacts/sentiment.json.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31bc94b8044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d482dd1c84c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20adef7a642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04d863ed04c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ebefb803c47d6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2FC68316-C3A6-45CD-9EA3-C2C10A783C1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37776" y="2229239"/>
            <a:ext cx="5572125" cy="14884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0" i="0">
                <a:solidFill>
                  <a:srgbClr val="030303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4EBD761-EF59-4037-A7A3-B92818FD1768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2194560" y="4608576"/>
            <a:ext cx="1024128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800" b="0" i="0">
                <a:solidFill>
                  <a:srgbClr val="464646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CCA947F-FB53-45CC-BCFC-6A389AC1B84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030CCAA8-ED4A-4AB7-9A1D-451B6624506A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8F35277-08E2-49DA-89D4-01D52CC777C4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6769C3C-9E0A-4EFA-9664-18BA1EBC1B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200" b="0" i="0">
                <a:solidFill>
                  <a:srgbClr val="030303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DE545175-278F-4E5C-9D48-AC360BFD34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800" b="0" i="0">
                <a:solidFill>
                  <a:srgbClr val="464646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D6336B46-0E28-47B4-A1CC-9392D4592F1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490D1414-9D62-4F4B-BB54-C4CCE9D0D3B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C3B053E0-C4D6-46CE-AF4A-049D6474581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EEDB8BD-455B-4B85-B0EF-F62B2C54B1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200" b="0" i="0">
                <a:solidFill>
                  <a:srgbClr val="030303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D20CB8F9-6E3E-45FD-90A1-B6FBB04175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731520" y="1892808"/>
            <a:ext cx="6364224" cy="54315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9DADD8BD-9E23-424C-A3A2-E900A5E8F99C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534656" y="1892808"/>
            <a:ext cx="6364224" cy="54315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D5079A0E-9F24-46A8-86A7-9914D3D8B5E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801B91A9-55F2-4C27-AF62-21342FFA3DA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9CA965B2-013B-4907-AAD3-BBE13B4FA87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75D19ADC-9CEF-47AE-A96E-B32AE1FA28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200" b="0" i="0">
                <a:solidFill>
                  <a:srgbClr val="030303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3FDA64B-BCB8-4C23-AFD0-07108AACF0F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D2FC22C3-5A9E-4321-8D5F-9CDA9CBAF24A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EC6285F2-4450-4C4E-8F2F-27577B17FAA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EE59362-76F3-48A3-8543-681B549733EE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C2C85AC-DFDB-40D3-A371-2E1C0A4DD1F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399647A2-3BD7-402D-92C6-63CFBBB841B8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c8c238f47d4ff5" /><Relationship Type="http://schemas.openxmlformats.org/officeDocument/2006/relationships/slideLayout" Target="/ppt/slideLayouts/slideLayout1.xml" Id="R29ccecb637534c1e" /><Relationship Type="http://schemas.openxmlformats.org/officeDocument/2006/relationships/slideLayout" Target="/ppt/slideLayouts/slideLayout2.xml" Id="R6f7a8136fe6c4ad1" /><Relationship Type="http://schemas.openxmlformats.org/officeDocument/2006/relationships/slideLayout" Target="/ppt/slideLayouts/slideLayout3.xml" Id="Rc00e3cb91a7a45f9" /><Relationship Type="http://schemas.openxmlformats.org/officeDocument/2006/relationships/slideLayout" Target="/ppt/slideLayouts/slideLayout4.xml" Id="R100bc83b1d774516" /><Relationship Type="http://schemas.openxmlformats.org/officeDocument/2006/relationships/slideLayout" Target="/ppt/slideLayouts/slideLayout5.xml" Id="R6859ea41e549484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6744158-F2AB-4312-8910-32FB07160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81090" y="728386"/>
            <a:ext cx="13068219" cy="7035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0" i="0">
                <a:solidFill>
                  <a:srgbClr val="030303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D89B8540-5B13-4645-993A-30C325F0EF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293352" y="2035065"/>
            <a:ext cx="8093709" cy="2434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800" b="0" i="0">
                <a:solidFill>
                  <a:srgbClr val="464646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9C125B3-33D6-408C-B783-DB39ABD5C59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4974336" y="7653528"/>
            <a:ext cx="4681728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E0A80BE-101A-489E-9F4F-E63D5759A1C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731520" y="7653528"/>
            <a:ext cx="3364992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4A1A684-9E5A-483E-8853-DAFFAB26B5F8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10533888" y="7653528"/>
            <a:ext cx="3364992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ccecb637534c1e"/>
    <p:sldLayoutId xmlns:r="http://schemas.openxmlformats.org/officeDocument/2006/relationships" id="2147483650" r:id="R6f7a8136fe6c4ad1"/>
    <p:sldLayoutId xmlns:r="http://schemas.openxmlformats.org/officeDocument/2006/relationships" id="2147483651" r:id="Rc00e3cb91a7a45f9"/>
    <p:sldLayoutId xmlns:r="http://schemas.openxmlformats.org/officeDocument/2006/relationships" id="2147483652" r:id="R100bc83b1d774516"/>
    <p:sldLayoutId xmlns:r="http://schemas.openxmlformats.org/officeDocument/2006/relationships" id="2147483653" r:id="R6859ea41e5494847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e9c7934fa34a26" /><Relationship Type="http://schemas.openxmlformats.org/officeDocument/2006/relationships/image" Target="/ppt/media/image.png" Id="Ra22c0d6a78e9421c" /><Relationship Type="http://schemas.openxmlformats.org/officeDocument/2006/relationships/notesSlide" Target="/ppt/notesSlides/notesSlide1.xml" Id="Rbb77b306f70b4f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fc252423604d47" /><Relationship Type="http://schemas.openxmlformats.org/officeDocument/2006/relationships/notesSlide" Target="/ppt/notesSlides/notesSlide2.xml" Id="Rf9d946b174d140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7fe441e6c94a8a" /><Relationship Type="http://schemas.openxmlformats.org/officeDocument/2006/relationships/image" Target="/ppt/media/image2.png" Id="R88823e8721884577" /><Relationship Type="http://schemas.openxmlformats.org/officeDocument/2006/relationships/image" Target="/ppt/media/image3.png" Id="R6953bc91b37648da" /><Relationship Type="http://schemas.openxmlformats.org/officeDocument/2006/relationships/image" Target="/ppt/media/image4.png" Id="Rfed809b99bb84bfa" /><Relationship Type="http://schemas.openxmlformats.org/officeDocument/2006/relationships/image" Target="/ppt/media/image5.png" Id="Rb2fedeb4c7ef4de1" /><Relationship Type="http://schemas.openxmlformats.org/officeDocument/2006/relationships/image" Target="/ppt/media/image6.png" Id="Rc4e75bfa81714d0f" /><Relationship Type="http://schemas.openxmlformats.org/officeDocument/2006/relationships/image" Target="/ppt/media/image7.png" Id="R473113a245914ae8" /><Relationship Type="http://schemas.openxmlformats.org/officeDocument/2006/relationships/image" Target="/ppt/media/image8.png" Id="R6c02f3e182574e7a" /><Relationship Type="http://schemas.openxmlformats.org/officeDocument/2006/relationships/image" Target="/ppt/media/image9.png" Id="Rb0a956ee60d445b9" /><Relationship Type="http://schemas.openxmlformats.org/officeDocument/2006/relationships/image" Target="/ppt/media/image10.png" Id="R7171f7924c8b4f9d" /><Relationship Type="http://schemas.openxmlformats.org/officeDocument/2006/relationships/image" Target="/ppt/media/image11.png" Id="R07648e8ee966476c" /><Relationship Type="http://schemas.openxmlformats.org/officeDocument/2006/relationships/image" Target="/ppt/media/image12.png" Id="R0a6cb229b97b4572" /><Relationship Type="http://schemas.openxmlformats.org/officeDocument/2006/relationships/image" Target="/ppt/media/image13.png" Id="R40855358da754d89" /><Relationship Type="http://schemas.openxmlformats.org/officeDocument/2006/relationships/image" Target="/ppt/media/image14.png" Id="R2cdc8a18878e40f2" /><Relationship Type="http://schemas.openxmlformats.org/officeDocument/2006/relationships/image" Target="/ppt/media/image15.png" Id="R2f404407d0db4dcf" /><Relationship Type="http://schemas.openxmlformats.org/officeDocument/2006/relationships/notesSlide" Target="/ppt/notesSlides/notesSlide3.xml" Id="R85ed0341baaa45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d5582aa2fc4058" /><Relationship Type="http://schemas.openxmlformats.org/officeDocument/2006/relationships/notesSlide" Target="/ppt/notesSlides/notesSlide4.xml" Id="Rca3d894f869e45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2bbc4b6b724935" /><Relationship Type="http://schemas.openxmlformats.org/officeDocument/2006/relationships/image" Target="/ppt/media/image16.png" Id="Re13c913f112f4879" /><Relationship Type="http://schemas.openxmlformats.org/officeDocument/2006/relationships/notesSlide" Target="/ppt/notesSlides/notesSlide5.xml" Id="R895867ea59d84f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cba5ff625e47c3" /><Relationship Type="http://schemas.openxmlformats.org/officeDocument/2006/relationships/notesSlide" Target="/ppt/notesSlides/notesSlide6.xml" Id="Rf8b2e78fc8b749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f71747c674b4c" /><Relationship Type="http://schemas.openxmlformats.org/officeDocument/2006/relationships/notesSlide" Target="/ppt/notesSlides/notesSlide7.xml" Id="R2162a765fd6344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99075db1344791" /><Relationship Type="http://schemas.openxmlformats.org/officeDocument/2006/relationships/image" Target="/ppt/media/image17.png" Id="R399e67c561be4d5e" /><Relationship Type="http://schemas.openxmlformats.org/officeDocument/2006/relationships/image" Target="/ppt/media/image18.png" Id="R44495fea980148ae" /><Relationship Type="http://schemas.openxmlformats.org/officeDocument/2006/relationships/image" Target="/ppt/media/image19.png" Id="R03371d69badf4a7f" /><Relationship Type="http://schemas.openxmlformats.org/officeDocument/2006/relationships/image" Target="/ppt/media/image20.png" Id="R6a758639aa9f4e01" /><Relationship Type="http://schemas.openxmlformats.org/officeDocument/2006/relationships/image" Target="/ppt/media/image21.png" Id="R19c907ed865d4b3c" /><Relationship Type="http://schemas.openxmlformats.org/officeDocument/2006/relationships/image" Target="/ppt/media/image22.png" Id="Rc864bc7839984aca" /><Relationship Type="http://schemas.openxmlformats.org/officeDocument/2006/relationships/notesSlide" Target="/ppt/notesSlides/notesSlide8.xml" Id="R03e22e28e2c041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d8554094c7488d" /><Relationship Type="http://schemas.openxmlformats.org/officeDocument/2006/relationships/image" Target="/ppt/media/image23.png" Id="Rd3e506083afb4bf6" /><Relationship Type="http://schemas.openxmlformats.org/officeDocument/2006/relationships/image" Target="/ppt/media/image24.png" Id="Ra77827bf52984535" /><Relationship Type="http://schemas.openxmlformats.org/officeDocument/2006/relationships/image" Target="/ppt/media/image25.png" Id="Rb21405749dd64613" /><Relationship Type="http://schemas.openxmlformats.org/officeDocument/2006/relationships/image" Target="/ppt/media/image26.png" Id="R0d07ebfdc7304b55" /><Relationship Type="http://schemas.openxmlformats.org/officeDocument/2006/relationships/image" Target="/ppt/media/image27.png" Id="R66559329bc814596" /><Relationship Type="http://schemas.openxmlformats.org/officeDocument/2006/relationships/notesSlide" Target="/ppt/notesSlides/notesSlide9.xml" Id="Re866ec5ef12249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41c96d899c4a21" /><Relationship Type="http://schemas.openxmlformats.org/officeDocument/2006/relationships/notesSlide" Target="/ppt/notesSlides/notesSlide10.xml" Id="R6758f85406bb46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37123c51964f44" /><Relationship Type="http://schemas.openxmlformats.org/officeDocument/2006/relationships/image" Target="/ppt/media/image28.png" Id="R4b73370e92a14f2a" /><Relationship Type="http://schemas.openxmlformats.org/officeDocument/2006/relationships/image" Target="/ppt/media/image29.png" Id="R135271a512c641cf" /><Relationship Type="http://schemas.openxmlformats.org/officeDocument/2006/relationships/notesSlide" Target="/ppt/notesSlides/notesSlide11.xml" Id="Rb7d533f075814b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f246cd490049ee" /><Relationship Type="http://schemas.openxmlformats.org/officeDocument/2006/relationships/notesSlide" Target="/ppt/notesSlides/notesSlide12.xml" Id="Rb9c1473b88ba40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7a750d953c469c" /><Relationship Type="http://schemas.openxmlformats.org/officeDocument/2006/relationships/image" Target="/ppt/media/image30.png" Id="R5600a145e3164b3d" /><Relationship Type="http://schemas.openxmlformats.org/officeDocument/2006/relationships/notesSlide" Target="/ppt/notesSlides/notesSlide13.xml" Id="R42625d09a68a4d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5ac8db49ab4057" /><Relationship Type="http://schemas.openxmlformats.org/officeDocument/2006/relationships/image" Target="/ppt/media/image31.png" Id="Rd6aa76f860f84dc7" /><Relationship Type="http://schemas.openxmlformats.org/officeDocument/2006/relationships/notesSlide" Target="/ppt/notesSlides/notesSlide14.xml" Id="R92bd29d82bf041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441cd63e5b40ad" /><Relationship Type="http://schemas.openxmlformats.org/officeDocument/2006/relationships/image" Target="/ppt/media/image32.png" Id="Ra9818742c3b147e2" /><Relationship Type="http://schemas.openxmlformats.org/officeDocument/2006/relationships/image" Target="/ppt/media/image33.png" Id="R6ad24f6d00dc41bf" /><Relationship Type="http://schemas.openxmlformats.org/officeDocument/2006/relationships/chart" Target="/ppt/slides/charts/chart1.xml" Id="Rd0323d1c572242ff" /><Relationship Type="http://schemas.openxmlformats.org/officeDocument/2006/relationships/notesSlide" Target="/ppt/notesSlides/notesSlide15.xml" Id="Ra331ccc0670845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8a576b3d54f7c" /><Relationship Type="http://schemas.openxmlformats.org/officeDocument/2006/relationships/notesSlide" Target="/ppt/notesSlides/notesSlide16.xml" Id="Rf876c9c9fb1c4c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2dbda34b754032" /><Relationship Type="http://schemas.openxmlformats.org/officeDocument/2006/relationships/image" Target="/ppt/media/image34.png" Id="R719dacb49b9e42af" /><Relationship Type="http://schemas.openxmlformats.org/officeDocument/2006/relationships/image" Target="/ppt/media/image35.png" Id="R2d02124626894a62" /><Relationship Type="http://schemas.openxmlformats.org/officeDocument/2006/relationships/image" Target="/ppt/media/image36.png" Id="R6f6403116d7c4a3d" /><Relationship Type="http://schemas.openxmlformats.org/officeDocument/2006/relationships/notesSlide" Target="/ppt/notesSlides/notesSlide17.xml" Id="R9dc8eea1df0a44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1880c189fa4a79" /><Relationship Type="http://schemas.openxmlformats.org/officeDocument/2006/relationships/image" Target="/ppt/media/image37.png" Id="Rbac2b5df7f4f4398" /><Relationship Type="http://schemas.openxmlformats.org/officeDocument/2006/relationships/image" Target="/ppt/media/image38.png" Id="R1f8502c5d19f455f" /><Relationship Type="http://schemas.openxmlformats.org/officeDocument/2006/relationships/image" Target="/ppt/media/image39.png" Id="Rd0301e8e7f5f4c05" /><Relationship Type="http://schemas.openxmlformats.org/officeDocument/2006/relationships/image" Target="/ppt/media/image40.png" Id="R7f1fe2e5da7640d0" /><Relationship Type="http://schemas.openxmlformats.org/officeDocument/2006/relationships/notesSlide" Target="/ppt/notesSlides/notesSlide18.xml" Id="Rc043b1697c314f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3243964bea4c03" /><Relationship Type="http://schemas.openxmlformats.org/officeDocument/2006/relationships/notesSlide" Target="/ppt/notesSlides/notesSlide19.xml" Id="R1af526f8bdd94d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ac20154cb4bc1" /><Relationship Type="http://schemas.openxmlformats.org/officeDocument/2006/relationships/notesSlide" Target="/ppt/notesSlides/notesSlide20.xml" Id="Rb77b0fe3deb04e3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 (%)</c:v>
          </c:tx>
          <c:spPr>
            <a:solidFill xmlns:a="http://schemas.openxmlformats.org/drawingml/2006/main">
              <a:srgbClr val="0E5B45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67.07%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68.35%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Naive Bayes</c:v>
                </c:pt>
                <c:pt idx="1">
                  <c:v>Linear SVM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67.07</c:v>
                </c:pt>
                <c:pt idx="1">
                  <c:v>68.35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02020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0202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02020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20202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02020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  <c:majorUnit val="2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E0EC03C-A42C-4F44-8842-976E682C5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54264" y="477799"/>
            <a:ext cx="11922125" cy="17424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07340" rIns="0" bIns="0">
            <a:spAutoFit/>
          </a:bodyPr>
          <a:lstStyle xmlns:a="http://schemas.openxmlformats.org/drawingml/2006/main"/>
          <a:p xmlns:a="http://schemas.openxmlformats.org/drawingml/2006/main">
            <a:pPr marL="2597150" marR="5080" indent="-2585085">
              <a:lnSpc>
                <a:spcPct val="70700"/>
              </a:lnSpc>
              <a:spcBef>
                <a:spcPts val="2420"/>
              </a:spcBef>
              <a:buNone/>
            </a:pPr>
            <a:r>
              <a:rPr sz="6600">
                <a:latin typeface="Times New Roman"/>
                <a:ea typeface="Times New Roman"/>
                <a:cs typeface="Times New Roman"/>
              </a:rPr>
              <a:t>Sentiment</a:t>
            </a:r>
            <a:r>
              <a:rPr sz="6600" spc="-90">
                <a:latin typeface="Times New Roman"/>
                <a:ea typeface="Times New Roman"/>
                <a:cs typeface="Times New Roman"/>
              </a:rPr>
              <a:t> </a:t>
            </a:r>
            <a:r>
              <a:rPr sz="6600">
                <a:latin typeface="Times New Roman"/>
                <a:ea typeface="Times New Roman"/>
                <a:cs typeface="Times New Roman"/>
              </a:rPr>
              <a:t>Analysis</a:t>
            </a:r>
            <a:r>
              <a:rPr sz="6600" spc="-90">
                <a:latin typeface="Times New Roman"/>
                <a:ea typeface="Times New Roman"/>
                <a:cs typeface="Times New Roman"/>
              </a:rPr>
              <a:t> </a:t>
            </a:r>
            <a:r>
              <a:rPr sz="6600">
                <a:latin typeface="Times New Roman"/>
                <a:ea typeface="Times New Roman"/>
                <a:cs typeface="Times New Roman"/>
              </a:rPr>
              <a:t>Using</a:t>
            </a:r>
            <a:r>
              <a:rPr sz="6600" spc="-90">
                <a:latin typeface="Times New Roman"/>
                <a:ea typeface="Times New Roman"/>
                <a:cs typeface="Times New Roman"/>
              </a:rPr>
              <a:t> </a:t>
            </a:r>
            <a:r>
              <a:rPr sz="6600" spc="-10">
                <a:latin typeface="Times New Roman"/>
                <a:ea typeface="Times New Roman"/>
                <a:cs typeface="Times New Roman"/>
              </a:rPr>
              <a:t>Machine </a:t>
            </a:r>
            <a:r>
              <a:rPr sz="6600">
                <a:latin typeface="Times New Roman"/>
                <a:ea typeface="Times New Roman"/>
                <a:cs typeface="Times New Roman"/>
              </a:rPr>
              <a:t>Learning</a:t>
            </a:r>
            <a:r>
              <a:rPr sz="6600" spc="-240">
                <a:latin typeface="Times New Roman"/>
                <a:ea typeface="Times New Roman"/>
                <a:cs typeface="Times New Roman"/>
              </a:rPr>
              <a:t> </a:t>
            </a:r>
            <a:r>
              <a:rPr sz="6600" spc="-10">
                <a:latin typeface="Times New Roman"/>
                <a:ea typeface="Times New Roman"/>
                <a:cs typeface="Times New Roman"/>
              </a:rPr>
              <a:t>Classifiers</a:t>
            </a:r>
            <a:endParaRPr sz="66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5B0A8049-AD1E-4629-970D-5BBE1CAA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900" y="7515549"/>
            <a:ext cx="4209415" cy="29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7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M.Tech</a:t>
            </a:r>
            <a:r>
              <a:rPr sz="17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–</a:t>
            </a:r>
            <a:r>
              <a:rPr sz="17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Computer</a:t>
            </a:r>
            <a:r>
              <a:rPr sz="17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Science</a:t>
            </a:r>
            <a:r>
              <a:rPr sz="17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&amp;</a:t>
            </a:r>
            <a:r>
              <a:rPr sz="17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Engineering</a:t>
            </a:r>
            <a:endParaRPr sz="1750">
              <a:latin typeface="Segoe UI"/>
              <a:ea typeface="Segoe UI"/>
              <a:cs typeface="Segoe UI"/>
            </a:endParaRP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DCB8EE2B-D1A4-4098-94FF-EA93A10E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397" y="2407310"/>
            <a:ext cx="3752215" cy="340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412240" marR="1403350" algn="ctr">
              <a:lnSpc>
                <a:spcPct val="150000"/>
              </a:lnSpc>
              <a:spcBef>
                <a:spcPts val="100"/>
              </a:spcBef>
              <a:buNone/>
            </a:pPr>
            <a:r>
              <a:rPr sz="1800" spc="-25">
                <a:latin typeface="Calibri"/>
                <a:ea typeface="Calibri"/>
                <a:cs typeface="Calibri"/>
              </a:rPr>
              <a:t>Presented by</a:t>
            </a:r>
            <a:endParaRPr sz="180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" marR="105410" algn="ctr">
              <a:lnSpc>
                <a:spcPts val="4320"/>
              </a:lnSpc>
              <a:spcBef>
                <a:spcPts val="85"/>
              </a:spcBef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Name:</a:t>
            </a:r>
            <a:r>
              <a:rPr sz="2400" b="1" spc="-55"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Soliha</a:t>
            </a:r>
            <a:r>
              <a:rPr sz="2400" b="1" spc="-60"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Mohi</a:t>
            </a:r>
            <a:r>
              <a:rPr sz="2400" b="1" spc="-60"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Ud</a:t>
            </a:r>
            <a:r>
              <a:rPr sz="2400" b="1" spc="-60"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spc="-25">
                <a:latin typeface="Times New Roman"/>
                <a:ea typeface="Times New Roman"/>
                <a:cs typeface="Times New Roman"/>
              </a:rPr>
              <a:t>Din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Roll</a:t>
            </a:r>
            <a:r>
              <a:rPr sz="2400" b="1" spc="-45"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number:</a:t>
            </a:r>
            <a:r>
              <a:rPr sz="2400" b="1" spc="-45"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spc="-10">
                <a:latin typeface="Times New Roman"/>
                <a:ea typeface="Times New Roman"/>
                <a:cs typeface="Times New Roman"/>
              </a:rPr>
              <a:t>2306708</a:t>
            </a:r>
            <a:endParaRPr sz="2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847725" marR="840105" algn="ctr">
              <a:lnSpc>
                <a:spcPct val="150000"/>
              </a:lnSpc>
              <a:spcBef>
                <a:spcPts val="885"/>
              </a:spcBef>
              <a:buNone/>
            </a:pPr>
            <a:r>
              <a:rPr sz="1800">
                <a:latin typeface="Calibri"/>
                <a:ea typeface="Calibri"/>
                <a:cs typeface="Calibri"/>
              </a:rPr>
              <a:t>Under</a:t>
            </a:r>
            <a:r>
              <a:rPr sz="1800" spc="-45">
                <a:latin typeface="Calibri"/>
                <a:ea typeface="Calibri"/>
                <a:cs typeface="Calibri"/>
              </a:rPr>
              <a:t> </a:t>
            </a:r>
            <a:r>
              <a:rPr sz="1800">
                <a:latin typeface="Calibri"/>
                <a:ea typeface="Calibri"/>
                <a:cs typeface="Calibri"/>
              </a:rPr>
              <a:t>the</a:t>
            </a:r>
            <a:r>
              <a:rPr sz="1800" spc="-40">
                <a:latin typeface="Calibri"/>
                <a:ea typeface="Calibri"/>
                <a:cs typeface="Calibri"/>
              </a:rPr>
              <a:t> </a:t>
            </a:r>
            <a:r>
              <a:rPr sz="1800" spc="-10">
                <a:latin typeface="Calibri"/>
                <a:ea typeface="Calibri"/>
                <a:cs typeface="Calibri"/>
              </a:rPr>
              <a:t>supervision </a:t>
            </a:r>
            <a:r>
              <a:rPr sz="1800" spc="-25">
                <a:latin typeface="Calibri"/>
                <a:ea typeface="Calibri"/>
                <a:cs typeface="Calibri"/>
              </a:rPr>
              <a:t>of</a:t>
            </a:r>
            <a:endParaRPr sz="1800">
              <a:latin typeface="Calibri"/>
              <a:ea typeface="Calibri"/>
              <a:cs typeface="Calibri"/>
            </a:endParaRPr>
          </a:p>
          <a:p xmlns:a="http://schemas.openxmlformats.org/drawingml/2006/main">
            <a:pPr algn="ctr">
              <a:lnSpc>
                <a:spcPct val="100000"/>
              </a:lnSpc>
              <a:spcBef>
                <a:spcPts val="1145"/>
              </a:spcBef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Dr.</a:t>
            </a:r>
            <a:r>
              <a:rPr sz="2400" b="1" spc="-50"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Vandana</a:t>
            </a:r>
            <a:r>
              <a:rPr sz="2400" b="1" spc="-45"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&amp;</a:t>
            </a:r>
            <a:r>
              <a:rPr sz="2400" b="1" spc="-45"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Ms.</a:t>
            </a:r>
            <a:r>
              <a:rPr sz="2400" b="1" spc="-50"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spc="-10">
                <a:latin typeface="Times New Roman"/>
                <a:ea typeface="Times New Roman"/>
                <a:cs typeface="Times New Roman"/>
              </a:rPr>
              <a:t>Suvidha</a:t>
            </a:r>
            <a:endParaRPr sz="2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c0d6a78e942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7416" y="5885766"/>
            <a:ext cx="1915566" cy="16396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31317"/>
      </p:ext>
    </p:extLst>
  </p:cSld>
</p:sld>
</file>

<file path=ppt/slides/slide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71DD838-F5EB-4C40-B919-ED02854D39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839" y="487323"/>
            <a:ext cx="2364740" cy="574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3600" b="1" spc="-3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Introduction</a:t>
            </a:r>
            <a:endParaRPr sz="3600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C96BDDC8-E62B-4E7B-A3A3-439C070A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0" y="1391268"/>
            <a:ext cx="6816725" cy="85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ct val="101899"/>
              </a:lnSpc>
              <a:spcBef>
                <a:spcPts val="55"/>
              </a:spcBef>
              <a:buNone/>
            </a:pP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800" spc="9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digital</a:t>
            </a:r>
            <a:r>
              <a:rPr sz="1800" spc="9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age</a:t>
            </a:r>
            <a:r>
              <a:rPr sz="1800" spc="1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has</a:t>
            </a:r>
            <a:r>
              <a:rPr sz="1800" spc="9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brought</a:t>
            </a:r>
            <a:r>
              <a:rPr sz="1800" spc="1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an</a:t>
            </a:r>
            <a:r>
              <a:rPr sz="1800" spc="9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explosion</a:t>
            </a:r>
            <a:r>
              <a:rPr sz="1800" spc="1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800" spc="9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online</a:t>
            </a:r>
            <a:r>
              <a:rPr sz="1800" spc="9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textual</a:t>
            </a:r>
            <a:r>
              <a:rPr sz="1800" spc="1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content.</a:t>
            </a:r>
            <a:r>
              <a:rPr sz="1800" spc="9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2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From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product</a:t>
            </a:r>
            <a:r>
              <a:rPr sz="1800" spc="29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reviews</a:t>
            </a:r>
            <a:r>
              <a:rPr sz="1800" spc="3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800" spc="3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social</a:t>
            </a:r>
            <a:r>
              <a:rPr sz="1800" spc="3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media</a:t>
            </a:r>
            <a:r>
              <a:rPr sz="1800" spc="3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posts</a:t>
            </a:r>
            <a:r>
              <a:rPr sz="1800" spc="30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800" spc="3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news</a:t>
            </a:r>
            <a:r>
              <a:rPr sz="1800" spc="3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comments</a:t>
            </a:r>
            <a:r>
              <a:rPr sz="1800" spc="3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800" spc="3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forum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discussions,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text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generated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an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astonishing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rate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every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second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2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[1].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50573A2B-1793-4AF7-AE73-BD32F0DE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39" y="2923630"/>
            <a:ext cx="6816725" cy="85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ct val="101899"/>
              </a:lnSpc>
              <a:spcBef>
                <a:spcPts val="55"/>
              </a:spcBef>
              <a:buNone/>
            </a:pP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This</a:t>
            </a:r>
            <a:r>
              <a:rPr sz="1800" spc="18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vast</a:t>
            </a:r>
            <a:r>
              <a:rPr sz="1800" spc="18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amount</a:t>
            </a:r>
            <a:r>
              <a:rPr sz="1800" spc="18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800" spc="18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 spc="-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user-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generated</a:t>
            </a:r>
            <a:r>
              <a:rPr sz="1800" spc="18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content</a:t>
            </a:r>
            <a:r>
              <a:rPr sz="1800" spc="18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profoundly</a:t>
            </a:r>
            <a:r>
              <a:rPr sz="1800" spc="18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 spc="-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influences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decisions</a:t>
            </a:r>
            <a:r>
              <a:rPr sz="1800" spc="3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800" spc="4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various</a:t>
            </a:r>
            <a:r>
              <a:rPr sz="1800" spc="3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sectors.</a:t>
            </a:r>
            <a:r>
              <a:rPr sz="1800" spc="4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What</a:t>
            </a:r>
            <a:r>
              <a:rPr sz="1800" spc="3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people</a:t>
            </a:r>
            <a:r>
              <a:rPr sz="1800" spc="4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say</a:t>
            </a:r>
            <a:r>
              <a:rPr sz="1800" spc="3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online</a:t>
            </a:r>
            <a:r>
              <a:rPr sz="1800" spc="4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can</a:t>
            </a:r>
            <a:r>
              <a:rPr sz="1800" spc="3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make</a:t>
            </a:r>
            <a:r>
              <a:rPr sz="1800" spc="4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or</a:t>
            </a:r>
            <a:r>
              <a:rPr sz="1800" spc="3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break</a:t>
            </a:r>
            <a:r>
              <a:rPr sz="1800" spc="4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5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product,</a:t>
            </a:r>
            <a:r>
              <a:rPr sz="1800" spc="-5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shape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political</a:t>
            </a:r>
            <a:r>
              <a:rPr sz="1800" spc="-5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discourse,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or</a:t>
            </a:r>
            <a:r>
              <a:rPr sz="1800" spc="-5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define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brand's</a:t>
            </a:r>
            <a:r>
              <a:rPr sz="1800" spc="-5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reputation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2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[2].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B265359-CB47-4F80-AAFE-80AA3B9C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39" y="4455991"/>
            <a:ext cx="6816725" cy="85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ct val="101899"/>
              </a:lnSpc>
              <a:spcBef>
                <a:spcPts val="55"/>
              </a:spcBef>
              <a:buNone/>
            </a:pP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800" spc="1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sheer</a:t>
            </a:r>
            <a:r>
              <a:rPr sz="1800" spc="10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volume</a:t>
            </a:r>
            <a:r>
              <a:rPr sz="1800" spc="1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makes</a:t>
            </a:r>
            <a:r>
              <a:rPr sz="1800" spc="10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manual</a:t>
            </a:r>
            <a:r>
              <a:rPr sz="1800" spc="1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r>
              <a:rPr sz="1800" spc="10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impossible.</a:t>
            </a:r>
            <a:r>
              <a:rPr sz="1800" spc="1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Organizations</a:t>
            </a:r>
            <a:r>
              <a:rPr sz="1800" spc="10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and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researchers</a:t>
            </a:r>
            <a:r>
              <a:rPr sz="1800" spc="2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face</a:t>
            </a:r>
            <a:r>
              <a:rPr sz="1800" spc="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800" spc="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challenge</a:t>
            </a:r>
            <a:r>
              <a:rPr sz="1800" spc="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800" spc="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extracting</a:t>
            </a:r>
            <a:r>
              <a:rPr sz="1800" spc="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meaningful</a:t>
            </a:r>
            <a:r>
              <a:rPr sz="1800" spc="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insights</a:t>
            </a:r>
            <a:r>
              <a:rPr sz="1800" spc="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from</a:t>
            </a:r>
            <a:r>
              <a:rPr sz="1800" spc="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2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this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deluge</a:t>
            </a:r>
            <a:r>
              <a:rPr sz="1800" spc="-3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800" spc="-3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information.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1C471BB0-AD93-4B1B-B6F2-5E386E46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39" y="5959539"/>
            <a:ext cx="6816725" cy="858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ct val="101899"/>
              </a:lnSpc>
              <a:spcBef>
                <a:spcPts val="55"/>
              </a:spcBef>
              <a:buNone/>
            </a:pP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Consequently,</a:t>
            </a:r>
            <a:r>
              <a:rPr sz="1800" spc="16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there</a:t>
            </a:r>
            <a:r>
              <a:rPr sz="1800" spc="16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is</a:t>
            </a:r>
            <a:r>
              <a:rPr sz="1800" spc="16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800" spc="16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critical</a:t>
            </a:r>
            <a:r>
              <a:rPr sz="1800" spc="16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need</a:t>
            </a:r>
            <a:r>
              <a:rPr sz="1800" spc="17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800" spc="16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automated</a:t>
            </a:r>
            <a:r>
              <a:rPr sz="1800" spc="16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sentiment</a:t>
            </a:r>
            <a:r>
              <a:rPr sz="1800" spc="16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detection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systems that can</a:t>
            </a:r>
            <a:r>
              <a:rPr sz="1800" spc="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efficiently process and</a:t>
            </a:r>
            <a:r>
              <a:rPr sz="1800" spc="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interpret public opinion</a:t>
            </a:r>
            <a:r>
              <a:rPr sz="1800" spc="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for </a:t>
            </a:r>
            <a:r>
              <a:rPr sz="1800" spc="-1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better decision-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making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marketing,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governance,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customer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[1,</a:t>
            </a:r>
            <a:r>
              <a:rPr sz="1800" spc="-4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25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2].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9362DFBA-1ACB-4763-9102-A87AEC2C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231" y="5704353"/>
            <a:ext cx="281940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 spc="-25">
                <a:latin typeface="Times New Roman"/>
                <a:ea typeface="Times New Roman"/>
                <a:cs typeface="Times New Roman"/>
              </a:rPr>
              <a:t>Figure</a:t>
            </a:r>
            <a:r>
              <a:rPr sz="1800" spc="-45"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latin typeface="Times New Roman"/>
                <a:ea typeface="Times New Roman"/>
                <a:cs typeface="Times New Roman"/>
              </a:rPr>
              <a:t>1.</a:t>
            </a:r>
            <a:r>
              <a:rPr sz="1800" spc="-25"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latin typeface="Times New Roman"/>
                <a:ea typeface="Times New Roman"/>
                <a:cs typeface="Times New Roman"/>
              </a:rPr>
              <a:t>Sentiment</a:t>
            </a:r>
            <a:r>
              <a:rPr sz="1800" spc="-25"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ea typeface="Times New Roman"/>
                <a:cs typeface="Times New Roman"/>
              </a:rPr>
              <a:t>evaluation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1140738"/>
      </p:ext>
    </p:extLst>
  </p:cSld>
</p:sld>
</file>

<file path=ppt/slides/slide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2982ED93-A2E5-44CF-BCC3-1937D67B71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828675">
              <a:lnSpc>
                <a:spcPct val="100000"/>
              </a:lnSpc>
              <a:spcBef>
                <a:spcPts val="100"/>
              </a:spcBef>
              <a:buNone/>
            </a:pPr>
            <a:r>
              <a:rPr sz="4000">
                <a:latin typeface="Times New Roman"/>
                <a:ea typeface="Times New Roman"/>
                <a:cs typeface="Times New Roman"/>
              </a:rPr>
              <a:t>Understanding</a:t>
            </a:r>
            <a:r>
              <a:rPr sz="4000" spc="-204">
                <a:latin typeface="Times New Roman"/>
                <a:ea typeface="Times New Roman"/>
                <a:cs typeface="Times New Roman"/>
              </a:rPr>
              <a:t> </a:t>
            </a:r>
            <a:r>
              <a:rPr sz="4000">
                <a:latin typeface="Times New Roman"/>
                <a:ea typeface="Times New Roman"/>
                <a:cs typeface="Times New Roman"/>
              </a:rPr>
              <a:t>Sentiment</a:t>
            </a:r>
            <a:r>
              <a:rPr sz="4000" spc="-204">
                <a:latin typeface="Times New Roman"/>
                <a:ea typeface="Times New Roman"/>
                <a:cs typeface="Times New Roman"/>
              </a:rPr>
              <a:t> </a:t>
            </a:r>
            <a:r>
              <a:rPr sz="4000" spc="-10">
                <a:latin typeface="Times New Roman"/>
                <a:ea typeface="Times New Roman"/>
                <a:cs typeface="Times New Roman"/>
              </a:rPr>
              <a:t>Analysis</a:t>
            </a:r>
            <a:endParaRPr sz="4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FB78427D-FCC8-4D59-8B47-9E8D0531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113" y="2203858"/>
            <a:ext cx="3244850" cy="1219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991360">
              <a:lnSpc>
                <a:spcPct val="100000"/>
              </a:lnSpc>
              <a:spcBef>
                <a:spcPts val="100"/>
              </a:spcBef>
              <a:buNone/>
            </a:pPr>
            <a:r>
              <a:rPr sz="17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NLP</a:t>
            </a:r>
            <a:r>
              <a:rPr sz="1750" spc="-7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Subfield</a:t>
            </a:r>
            <a:endParaRPr sz="17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6350" indent="358140" algn="r">
              <a:lnSpc>
                <a:spcPct val="131000"/>
              </a:lnSpc>
              <a:spcBef>
                <a:spcPts val="70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core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area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within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Natural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Language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Processing,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focusing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on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human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language</a:t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R="5715" algn="r">
              <a:lnSpc>
                <a:spcPct val="100000"/>
              </a:lnSpc>
              <a:spcBef>
                <a:spcPts val="520"/>
              </a:spcBef>
              <a:buNone/>
            </a:pP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interpretation.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48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23e872188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8403" y="2472213"/>
            <a:ext cx="3993356" cy="3993356"/>
          </a:xfrm>
          <a:prstGeom xmlns:a="http://schemas.openxmlformats.org/drawingml/2006/main" prst="rect">
            <a:avLst/>
          </a:prstGeom>
        </p:spPr>
      </p:pic>
      <p:pic>
        <p:nvPicPr>
          <p:cNvPr id="49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3bc91b37648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608861" y="3492401"/>
            <a:ext cx="253602" cy="253602"/>
          </a:xfrm>
          <a:prstGeom xmlns:a="http://schemas.openxmlformats.org/drawingml/2006/main" prst="rect">
            <a:avLst/>
          </a:prstGeom>
        </p:spPr>
      </p:pic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30DF7C7-96F4-490B-A23D-F476FF9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059" y="2141946"/>
            <a:ext cx="3646804" cy="940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7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Positive</a:t>
            </a:r>
            <a:endParaRPr sz="17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1000"/>
              </a:lnSpc>
              <a:spcBef>
                <a:spcPts val="70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Identifies</a:t>
            </a:r>
            <a:r>
              <a:rPr sz="140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expressions</a:t>
            </a:r>
            <a:r>
              <a:rPr sz="140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40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approval,</a:t>
            </a:r>
            <a:r>
              <a:rPr sz="140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satisfaction,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or</a:t>
            </a:r>
            <a:r>
              <a:rPr sz="140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favorable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opinions.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51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809b99bb84b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8403" y="2472213"/>
            <a:ext cx="3993356" cy="3993356"/>
          </a:xfrm>
          <a:prstGeom xmlns:a="http://schemas.openxmlformats.org/drawingml/2006/main" prst="rect">
            <a:avLst/>
          </a:prstGeom>
        </p:spPr>
      </p:pic>
      <p:pic>
        <p:nvPicPr>
          <p:cNvPr id="52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edeb4c7ef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91234" y="3359408"/>
            <a:ext cx="253602" cy="253602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1DB610A9-32C8-4665-B224-B6BBFFBE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059" y="3379720"/>
            <a:ext cx="3729990" cy="940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7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Negative</a:t>
            </a:r>
            <a:endParaRPr sz="17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1000"/>
              </a:lnSpc>
              <a:spcBef>
                <a:spcPts val="70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Detects</a:t>
            </a:r>
            <a:r>
              <a:rPr sz="140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dissatisfaction,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criticism,</a:t>
            </a:r>
            <a:r>
              <a:rPr sz="140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or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unfavorable viewpoints.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54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75bfa81714d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8403" y="2472213"/>
            <a:ext cx="3993356" cy="3993356"/>
          </a:xfrm>
          <a:prstGeom xmlns:a="http://schemas.openxmlformats.org/drawingml/2006/main" prst="rect">
            <a:avLst/>
          </a:prstGeom>
        </p:spPr>
      </p:pic>
      <p:pic>
        <p:nvPicPr>
          <p:cNvPr id="55" name="object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113a245914a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145363" y="3966270"/>
            <a:ext cx="253602" cy="253602"/>
          </a:xfrm>
          <a:prstGeom xmlns:a="http://schemas.openxmlformats.org/drawingml/2006/main" prst="rect">
            <a:avLst/>
          </a:prstGeom>
        </p:spPr>
      </p:pic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9067C2B5-D640-415B-BB13-1A6294F2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059" y="4617494"/>
            <a:ext cx="3316604" cy="940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7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Neutral</a:t>
            </a:r>
            <a:endParaRPr sz="17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1000"/>
              </a:lnSpc>
              <a:spcBef>
                <a:spcPts val="70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Recognizes</a:t>
            </a:r>
            <a:r>
              <a:rPr sz="140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objective</a:t>
            </a:r>
            <a:r>
              <a:rPr sz="140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statements</a:t>
            </a:r>
            <a:r>
              <a:rPr sz="140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lacking</a:t>
            </a:r>
            <a:r>
              <a:rPr sz="140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clear</a:t>
            </a:r>
            <a:r>
              <a:rPr sz="140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positive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or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negative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57" name="object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2f3e182574e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8403" y="2472213"/>
            <a:ext cx="3993356" cy="3993356"/>
          </a:xfrm>
          <a:prstGeom xmlns:a="http://schemas.openxmlformats.org/drawingml/2006/main" prst="rect">
            <a:avLst/>
          </a:prstGeom>
        </p:spPr>
      </p:pic>
      <p:pic>
        <p:nvPicPr>
          <p:cNvPr id="58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956ee60d445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78688" y="4856142"/>
            <a:ext cx="253602" cy="253602"/>
          </a:xfrm>
          <a:prstGeom xmlns:a="http://schemas.openxmlformats.org/drawingml/2006/main" prst="rect">
            <a:avLst/>
          </a:prstGeom>
        </p:spPr>
      </p:pic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0F085386-9004-4D42-B486-1FF7BDBC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059" y="5855267"/>
            <a:ext cx="3132455" cy="940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7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Document</a:t>
            </a:r>
            <a:r>
              <a:rPr sz="1750" spc="-9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Level</a:t>
            </a:r>
            <a:endParaRPr sz="17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1000"/>
              </a:lnSpc>
              <a:spcBef>
                <a:spcPts val="70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Analyzes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entire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document.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60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1f7924c8b4f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8403" y="2472213"/>
            <a:ext cx="3993356" cy="3993356"/>
          </a:xfrm>
          <a:prstGeom xmlns:a="http://schemas.openxmlformats.org/drawingml/2006/main" prst="rect">
            <a:avLst/>
          </a:prstGeom>
        </p:spPr>
      </p:pic>
      <p:pic>
        <p:nvPicPr>
          <p:cNvPr id="61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48e8ee96647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341452" y="5358825"/>
            <a:ext cx="253602" cy="253602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FE0E824A-3880-4A20-98C9-7BF34623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988" y="5648931"/>
            <a:ext cx="3653790" cy="940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2212340">
              <a:lnSpc>
                <a:spcPct val="100000"/>
              </a:lnSpc>
              <a:spcBef>
                <a:spcPts val="100"/>
              </a:spcBef>
              <a:buNone/>
            </a:pPr>
            <a:r>
              <a:rPr sz="17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Sentence</a:t>
            </a:r>
            <a:r>
              <a:rPr sz="1750" spc="-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Level</a:t>
            </a:r>
            <a:endParaRPr sz="17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R="6985" algn="r">
              <a:lnSpc>
                <a:spcPct val="100000"/>
              </a:lnSpc>
              <a:spcBef>
                <a:spcPts val="122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Determines</a:t>
            </a:r>
            <a:r>
              <a:rPr sz="140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40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individual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sentences</a:t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R="6350" algn="r">
              <a:lnSpc>
                <a:spcPct val="100000"/>
              </a:lnSpc>
              <a:spcBef>
                <a:spcPts val="52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within</a:t>
            </a:r>
            <a:r>
              <a:rPr sz="140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0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63" name="object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cb229b97b45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8403" y="2472213"/>
            <a:ext cx="3993356" cy="3993356"/>
          </a:xfrm>
          <a:prstGeom xmlns:a="http://schemas.openxmlformats.org/drawingml/2006/main" prst="rect">
            <a:avLst/>
          </a:prstGeom>
        </p:spPr>
      </p:pic>
      <p:pic>
        <p:nvPicPr>
          <p:cNvPr id="6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55358da754d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88728" y="5095814"/>
            <a:ext cx="253602" cy="253602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3B4FCBB9-569E-4FC1-AD64-FEC2AF70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02" y="3998488"/>
            <a:ext cx="3707129" cy="940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R="5080" algn="r">
              <a:lnSpc>
                <a:spcPct val="100000"/>
              </a:lnSpc>
              <a:spcBef>
                <a:spcPts val="100"/>
              </a:spcBef>
              <a:buNone/>
            </a:pPr>
            <a:r>
              <a:rPr sz="17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Aspect</a:t>
            </a:r>
            <a:r>
              <a:rPr sz="1750" spc="-6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Level</a:t>
            </a:r>
            <a:endParaRPr sz="17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R="6350" algn="r">
              <a:lnSpc>
                <a:spcPct val="100000"/>
              </a:lnSpc>
              <a:spcBef>
                <a:spcPts val="122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Focuses</a:t>
            </a:r>
            <a:r>
              <a:rPr sz="140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on</a:t>
            </a:r>
            <a:r>
              <a:rPr sz="140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r>
              <a:rPr sz="140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towards</a:t>
            </a:r>
            <a:r>
              <a:rPr sz="140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specific</a:t>
            </a:r>
            <a:r>
              <a:rPr sz="140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features</a:t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R="5715" algn="r">
              <a:lnSpc>
                <a:spcPct val="100000"/>
              </a:lnSpc>
              <a:spcBef>
                <a:spcPts val="52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or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aspects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entity.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66" name="object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c8a18878e40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8403" y="2472213"/>
            <a:ext cx="3993356" cy="3993356"/>
          </a:xfrm>
          <a:prstGeom xmlns:a="http://schemas.openxmlformats.org/drawingml/2006/main" prst="rect">
            <a:avLst/>
          </a:prstGeom>
        </p:spPr>
      </p:pic>
      <p:pic>
        <p:nvPicPr>
          <p:cNvPr id="67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04407d0db4d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162734" y="4265116"/>
            <a:ext cx="253602" cy="253602"/>
          </a:xfrm>
          <a:prstGeom xmlns:a="http://schemas.openxmlformats.org/drawingml/2006/main" prst="rect">
            <a:avLst/>
          </a:prstGeom>
        </p:spPr>
      </p:pic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F4ED1844-4724-4541-A604-8138C13F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501" y="6991418"/>
            <a:ext cx="11407140" cy="58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31000"/>
              </a:lnSpc>
              <a:spcBef>
                <a:spcPts val="10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analysis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is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process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converting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unstructured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human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language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into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structured,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quantifiable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insights,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allowing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us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understand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emotional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tone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behind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text.</a:t>
            </a:r>
            <a:endParaRPr sz="140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93870761"/>
      </p:ext>
    </p:extLst>
  </p:cSld>
</p:sld>
</file>

<file path=ppt/slides/slide4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EDE5139-EEEF-44AA-8967-625E97EF3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03560" y="792043"/>
            <a:ext cx="4861560" cy="756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Problem</a:t>
            </a:r>
            <a:r>
              <a:rPr sz="4800" spc="-1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4800" spc="-1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Statement</a:t>
            </a:r>
            <a:endParaRPr sz="4800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5F94FB4E-18EE-4BE8-A5D2-A4036936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53" y="1902548"/>
            <a:ext cx="5707380" cy="550545"/>
          </a:xfrm>
          <a:custGeom xmlns:a="http://schemas.openxmlformats.org/drawingml/2006/main">
            <a:rect l="l" t="t" r="r" b="b"/>
            <a:pathLst>
              <a:path w="5707380" h="550544">
                <a:moveTo>
                  <a:pt x="5707138" y="257365"/>
                </a:moveTo>
                <a:lnTo>
                  <a:pt x="5704979" y="246659"/>
                </a:lnTo>
                <a:lnTo>
                  <a:pt x="5699087" y="237921"/>
                </a:lnTo>
                <a:lnTo>
                  <a:pt x="5690349" y="232029"/>
                </a:lnTo>
                <a:lnTo>
                  <a:pt x="5679643" y="229870"/>
                </a:lnTo>
                <a:lnTo>
                  <a:pt x="3057652" y="229870"/>
                </a:lnTo>
                <a:lnTo>
                  <a:pt x="3057271" y="225590"/>
                </a:lnTo>
                <a:lnTo>
                  <a:pt x="3044494" y="179057"/>
                </a:lnTo>
                <a:lnTo>
                  <a:pt x="3024149" y="136207"/>
                </a:lnTo>
                <a:lnTo>
                  <a:pt x="2997022" y="97828"/>
                </a:lnTo>
                <a:lnTo>
                  <a:pt x="2963862" y="64681"/>
                </a:lnTo>
                <a:lnTo>
                  <a:pt x="2925483" y="37541"/>
                </a:lnTo>
                <a:lnTo>
                  <a:pt x="2882633" y="17195"/>
                </a:lnTo>
                <a:lnTo>
                  <a:pt x="2836100" y="4432"/>
                </a:lnTo>
                <a:lnTo>
                  <a:pt x="2786672" y="0"/>
                </a:lnTo>
                <a:lnTo>
                  <a:pt x="2737231" y="4432"/>
                </a:lnTo>
                <a:lnTo>
                  <a:pt x="2690698" y="17195"/>
                </a:lnTo>
                <a:lnTo>
                  <a:pt x="2647848" y="37541"/>
                </a:lnTo>
                <a:lnTo>
                  <a:pt x="2609469" y="64681"/>
                </a:lnTo>
                <a:lnTo>
                  <a:pt x="2576322" y="97828"/>
                </a:lnTo>
                <a:lnTo>
                  <a:pt x="2549182" y="136207"/>
                </a:lnTo>
                <a:lnTo>
                  <a:pt x="2528836" y="179057"/>
                </a:lnTo>
                <a:lnTo>
                  <a:pt x="2516060" y="225590"/>
                </a:lnTo>
                <a:lnTo>
                  <a:pt x="2515666" y="229870"/>
                </a:lnTo>
                <a:lnTo>
                  <a:pt x="27508" y="229870"/>
                </a:lnTo>
                <a:lnTo>
                  <a:pt x="16802" y="232029"/>
                </a:lnTo>
                <a:lnTo>
                  <a:pt x="8051" y="237921"/>
                </a:lnTo>
                <a:lnTo>
                  <a:pt x="2159" y="246659"/>
                </a:lnTo>
                <a:lnTo>
                  <a:pt x="0" y="257365"/>
                </a:lnTo>
                <a:lnTo>
                  <a:pt x="0" y="293801"/>
                </a:lnTo>
                <a:lnTo>
                  <a:pt x="2159" y="304507"/>
                </a:lnTo>
                <a:lnTo>
                  <a:pt x="8051" y="313245"/>
                </a:lnTo>
                <a:lnTo>
                  <a:pt x="16802" y="319151"/>
                </a:lnTo>
                <a:lnTo>
                  <a:pt x="27508" y="321310"/>
                </a:lnTo>
                <a:lnTo>
                  <a:pt x="2515768" y="321310"/>
                </a:lnTo>
                <a:lnTo>
                  <a:pt x="2516060" y="324472"/>
                </a:lnTo>
                <a:lnTo>
                  <a:pt x="2528836" y="370992"/>
                </a:lnTo>
                <a:lnTo>
                  <a:pt x="2549182" y="413842"/>
                </a:lnTo>
                <a:lnTo>
                  <a:pt x="2576322" y="452234"/>
                </a:lnTo>
                <a:lnTo>
                  <a:pt x="2609469" y="485381"/>
                </a:lnTo>
                <a:lnTo>
                  <a:pt x="2647848" y="512508"/>
                </a:lnTo>
                <a:lnTo>
                  <a:pt x="2690698" y="532853"/>
                </a:lnTo>
                <a:lnTo>
                  <a:pt x="2737231" y="545630"/>
                </a:lnTo>
                <a:lnTo>
                  <a:pt x="2786672" y="550062"/>
                </a:lnTo>
                <a:lnTo>
                  <a:pt x="2836100" y="545630"/>
                </a:lnTo>
                <a:lnTo>
                  <a:pt x="2882633" y="532853"/>
                </a:lnTo>
                <a:lnTo>
                  <a:pt x="2925483" y="512508"/>
                </a:lnTo>
                <a:lnTo>
                  <a:pt x="2963862" y="485381"/>
                </a:lnTo>
                <a:lnTo>
                  <a:pt x="2997022" y="452234"/>
                </a:lnTo>
                <a:lnTo>
                  <a:pt x="3024149" y="413842"/>
                </a:lnTo>
                <a:lnTo>
                  <a:pt x="3044494" y="370992"/>
                </a:lnTo>
                <a:lnTo>
                  <a:pt x="3057271" y="324472"/>
                </a:lnTo>
                <a:lnTo>
                  <a:pt x="3057550" y="321310"/>
                </a:lnTo>
                <a:lnTo>
                  <a:pt x="5679643" y="321310"/>
                </a:lnTo>
                <a:lnTo>
                  <a:pt x="5690349" y="319151"/>
                </a:lnTo>
                <a:lnTo>
                  <a:pt x="5699087" y="313245"/>
                </a:lnTo>
                <a:lnTo>
                  <a:pt x="5704979" y="304507"/>
                </a:lnTo>
                <a:lnTo>
                  <a:pt x="5707138" y="293801"/>
                </a:lnTo>
                <a:lnTo>
                  <a:pt x="5707138" y="257365"/>
                </a:lnTo>
                <a:close/>
              </a:path>
            </a:pathLst>
          </a:custGeom>
          <a:solidFill xmlns:a="http://schemas.openxmlformats.org/drawingml/2006/main">
            <a:srgbClr val="1C977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25D7D836-0B0A-432E-979D-A1A0EB56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117" y="2064174"/>
            <a:ext cx="142240" cy="284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700" spc="-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1700">
              <a:latin typeface="Segoe UI"/>
              <a:ea typeface="Segoe UI"/>
              <a:cs typeface="Segoe UI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9BF8D5C-B78C-4BDA-A4F9-BE1608F7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76" y="2622429"/>
            <a:ext cx="4928870" cy="1264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Sarcasm</a:t>
            </a:r>
            <a:r>
              <a:rPr sz="1800" spc="-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&amp;</a:t>
            </a:r>
            <a:r>
              <a:rPr sz="1800" spc="-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Informal</a:t>
            </a:r>
            <a:r>
              <a:rPr sz="1800" spc="-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Language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6900"/>
              </a:lnSpc>
              <a:spcBef>
                <a:spcPts val="695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Detecting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subtle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nuances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like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sarcasm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or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understanding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highly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informal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language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poses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significant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challenges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automated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systems</a:t>
            </a:r>
            <a:r>
              <a:rPr sz="140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[3].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5D57A521-96C6-465D-B6FA-0DCC15C3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754" y="1880234"/>
            <a:ext cx="5707380" cy="550545"/>
          </a:xfrm>
          <a:custGeom xmlns:a="http://schemas.openxmlformats.org/drawingml/2006/main">
            <a:rect l="l" t="t" r="r" b="b"/>
            <a:pathLst>
              <a:path w="5707380" h="550544">
                <a:moveTo>
                  <a:pt x="5707253" y="279679"/>
                </a:moveTo>
                <a:lnTo>
                  <a:pt x="5705094" y="268973"/>
                </a:lnTo>
                <a:lnTo>
                  <a:pt x="5699201" y="260235"/>
                </a:lnTo>
                <a:lnTo>
                  <a:pt x="5690463" y="254342"/>
                </a:lnTo>
                <a:lnTo>
                  <a:pt x="5679757" y="252183"/>
                </a:lnTo>
                <a:lnTo>
                  <a:pt x="3126549" y="252183"/>
                </a:lnTo>
                <a:lnTo>
                  <a:pt x="3124174" y="225602"/>
                </a:lnTo>
                <a:lnTo>
                  <a:pt x="3111398" y="179070"/>
                </a:lnTo>
                <a:lnTo>
                  <a:pt x="3091053" y="136220"/>
                </a:lnTo>
                <a:lnTo>
                  <a:pt x="3063913" y="97840"/>
                </a:lnTo>
                <a:lnTo>
                  <a:pt x="3030766" y="64693"/>
                </a:lnTo>
                <a:lnTo>
                  <a:pt x="2992386" y="37553"/>
                </a:lnTo>
                <a:lnTo>
                  <a:pt x="2949537" y="17208"/>
                </a:lnTo>
                <a:lnTo>
                  <a:pt x="2903004" y="4432"/>
                </a:lnTo>
                <a:lnTo>
                  <a:pt x="2853575" y="0"/>
                </a:lnTo>
                <a:lnTo>
                  <a:pt x="2804134" y="4432"/>
                </a:lnTo>
                <a:lnTo>
                  <a:pt x="2757601" y="17208"/>
                </a:lnTo>
                <a:lnTo>
                  <a:pt x="2714752" y="37553"/>
                </a:lnTo>
                <a:lnTo>
                  <a:pt x="2676372" y="64693"/>
                </a:lnTo>
                <a:lnTo>
                  <a:pt x="2643225" y="97840"/>
                </a:lnTo>
                <a:lnTo>
                  <a:pt x="2616085" y="136220"/>
                </a:lnTo>
                <a:lnTo>
                  <a:pt x="2595740" y="179070"/>
                </a:lnTo>
                <a:lnTo>
                  <a:pt x="2582964" y="225602"/>
                </a:lnTo>
                <a:lnTo>
                  <a:pt x="2580576" y="252183"/>
                </a:lnTo>
                <a:lnTo>
                  <a:pt x="27508" y="252183"/>
                </a:lnTo>
                <a:lnTo>
                  <a:pt x="16802" y="254342"/>
                </a:lnTo>
                <a:lnTo>
                  <a:pt x="8051" y="260235"/>
                </a:lnTo>
                <a:lnTo>
                  <a:pt x="2159" y="268973"/>
                </a:lnTo>
                <a:lnTo>
                  <a:pt x="0" y="279679"/>
                </a:lnTo>
                <a:lnTo>
                  <a:pt x="0" y="316115"/>
                </a:lnTo>
                <a:lnTo>
                  <a:pt x="2159" y="326821"/>
                </a:lnTo>
                <a:lnTo>
                  <a:pt x="8051" y="335559"/>
                </a:lnTo>
                <a:lnTo>
                  <a:pt x="16802" y="341464"/>
                </a:lnTo>
                <a:lnTo>
                  <a:pt x="27508" y="343623"/>
                </a:lnTo>
                <a:lnTo>
                  <a:pt x="2588209" y="343623"/>
                </a:lnTo>
                <a:lnTo>
                  <a:pt x="2595740" y="371005"/>
                </a:lnTo>
                <a:lnTo>
                  <a:pt x="2616085" y="413854"/>
                </a:lnTo>
                <a:lnTo>
                  <a:pt x="2643225" y="452247"/>
                </a:lnTo>
                <a:lnTo>
                  <a:pt x="2676372" y="485394"/>
                </a:lnTo>
                <a:lnTo>
                  <a:pt x="2714752" y="512521"/>
                </a:lnTo>
                <a:lnTo>
                  <a:pt x="2757601" y="532866"/>
                </a:lnTo>
                <a:lnTo>
                  <a:pt x="2804134" y="545642"/>
                </a:lnTo>
                <a:lnTo>
                  <a:pt x="2853575" y="550075"/>
                </a:lnTo>
                <a:lnTo>
                  <a:pt x="2903004" y="545642"/>
                </a:lnTo>
                <a:lnTo>
                  <a:pt x="2949537" y="532866"/>
                </a:lnTo>
                <a:lnTo>
                  <a:pt x="2992386" y="512521"/>
                </a:lnTo>
                <a:lnTo>
                  <a:pt x="3030766" y="485394"/>
                </a:lnTo>
                <a:lnTo>
                  <a:pt x="3063913" y="452247"/>
                </a:lnTo>
                <a:lnTo>
                  <a:pt x="3091053" y="413854"/>
                </a:lnTo>
                <a:lnTo>
                  <a:pt x="3111398" y="371005"/>
                </a:lnTo>
                <a:lnTo>
                  <a:pt x="3118916" y="343623"/>
                </a:lnTo>
                <a:lnTo>
                  <a:pt x="5679757" y="343623"/>
                </a:lnTo>
                <a:lnTo>
                  <a:pt x="5690463" y="341464"/>
                </a:lnTo>
                <a:lnTo>
                  <a:pt x="5699201" y="335559"/>
                </a:lnTo>
                <a:lnTo>
                  <a:pt x="5705094" y="326821"/>
                </a:lnTo>
                <a:lnTo>
                  <a:pt x="5707253" y="316115"/>
                </a:lnTo>
                <a:lnTo>
                  <a:pt x="5707253" y="279679"/>
                </a:lnTo>
                <a:close/>
              </a:path>
            </a:pathLst>
          </a:custGeom>
          <a:solidFill xmlns:a="http://schemas.openxmlformats.org/drawingml/2006/main">
            <a:srgbClr val="1C977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8FDF400B-B7EF-4DCE-8889-0EF2D1E6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19" y="2053023"/>
            <a:ext cx="142240" cy="284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700" spc="-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1700">
              <a:latin typeface="Segoe UI"/>
              <a:ea typeface="Segoe UI"/>
              <a:cs typeface="Segoe UI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F755674-C6CA-4D2C-934A-5C243F5D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274" y="2622429"/>
            <a:ext cx="4922520" cy="972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Mixed</a:t>
            </a:r>
            <a:r>
              <a:rPr sz="1800" spc="-1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Emotions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6900"/>
              </a:lnSpc>
              <a:spcBef>
                <a:spcPts val="695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Sentences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often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contain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both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positive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negative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elements,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making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it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difficult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assign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single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label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accurately.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31C5FB93-99A8-4096-A5B6-812DA1A6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53" y="4279823"/>
            <a:ext cx="5707380" cy="550545"/>
          </a:xfrm>
          <a:custGeom xmlns:a="http://schemas.openxmlformats.org/drawingml/2006/main">
            <a:rect l="l" t="t" r="r" b="b"/>
            <a:pathLst>
              <a:path w="5707380" h="550545">
                <a:moveTo>
                  <a:pt x="5707138" y="279679"/>
                </a:moveTo>
                <a:lnTo>
                  <a:pt x="5704979" y="268973"/>
                </a:lnTo>
                <a:lnTo>
                  <a:pt x="5699087" y="260235"/>
                </a:lnTo>
                <a:lnTo>
                  <a:pt x="5690349" y="254342"/>
                </a:lnTo>
                <a:lnTo>
                  <a:pt x="5679643" y="252171"/>
                </a:lnTo>
                <a:lnTo>
                  <a:pt x="3126549" y="252171"/>
                </a:lnTo>
                <a:lnTo>
                  <a:pt x="3124174" y="225602"/>
                </a:lnTo>
                <a:lnTo>
                  <a:pt x="3111398" y="179070"/>
                </a:lnTo>
                <a:lnTo>
                  <a:pt x="3091053" y="136220"/>
                </a:lnTo>
                <a:lnTo>
                  <a:pt x="3063925" y="97840"/>
                </a:lnTo>
                <a:lnTo>
                  <a:pt x="3030778" y="64693"/>
                </a:lnTo>
                <a:lnTo>
                  <a:pt x="2992386" y="37553"/>
                </a:lnTo>
                <a:lnTo>
                  <a:pt x="2949537" y="17208"/>
                </a:lnTo>
                <a:lnTo>
                  <a:pt x="2903016" y="4432"/>
                </a:lnTo>
                <a:lnTo>
                  <a:pt x="2853575" y="0"/>
                </a:lnTo>
                <a:lnTo>
                  <a:pt x="2804134" y="4432"/>
                </a:lnTo>
                <a:lnTo>
                  <a:pt x="2757601" y="17208"/>
                </a:lnTo>
                <a:lnTo>
                  <a:pt x="2714752" y="37553"/>
                </a:lnTo>
                <a:lnTo>
                  <a:pt x="2676372" y="64693"/>
                </a:lnTo>
                <a:lnTo>
                  <a:pt x="2643225" y="97840"/>
                </a:lnTo>
                <a:lnTo>
                  <a:pt x="2616085" y="136220"/>
                </a:lnTo>
                <a:lnTo>
                  <a:pt x="2595740" y="179070"/>
                </a:lnTo>
                <a:lnTo>
                  <a:pt x="2582964" y="225602"/>
                </a:lnTo>
                <a:lnTo>
                  <a:pt x="2580576" y="252171"/>
                </a:lnTo>
                <a:lnTo>
                  <a:pt x="27508" y="252171"/>
                </a:lnTo>
                <a:lnTo>
                  <a:pt x="16802" y="254342"/>
                </a:lnTo>
                <a:lnTo>
                  <a:pt x="8051" y="260235"/>
                </a:lnTo>
                <a:lnTo>
                  <a:pt x="2159" y="268973"/>
                </a:lnTo>
                <a:lnTo>
                  <a:pt x="0" y="279679"/>
                </a:lnTo>
                <a:lnTo>
                  <a:pt x="0" y="316115"/>
                </a:lnTo>
                <a:lnTo>
                  <a:pt x="2159" y="326821"/>
                </a:lnTo>
                <a:lnTo>
                  <a:pt x="8051" y="335559"/>
                </a:lnTo>
                <a:lnTo>
                  <a:pt x="16802" y="341452"/>
                </a:lnTo>
                <a:lnTo>
                  <a:pt x="27508" y="343611"/>
                </a:lnTo>
                <a:lnTo>
                  <a:pt x="2588209" y="343611"/>
                </a:lnTo>
                <a:lnTo>
                  <a:pt x="2595740" y="371005"/>
                </a:lnTo>
                <a:lnTo>
                  <a:pt x="2616085" y="413854"/>
                </a:lnTo>
                <a:lnTo>
                  <a:pt x="2643225" y="452234"/>
                </a:lnTo>
                <a:lnTo>
                  <a:pt x="2676372" y="485381"/>
                </a:lnTo>
                <a:lnTo>
                  <a:pt x="2714752" y="512521"/>
                </a:lnTo>
                <a:lnTo>
                  <a:pt x="2757601" y="532866"/>
                </a:lnTo>
                <a:lnTo>
                  <a:pt x="2804134" y="545642"/>
                </a:lnTo>
                <a:lnTo>
                  <a:pt x="2853575" y="550075"/>
                </a:lnTo>
                <a:lnTo>
                  <a:pt x="2903016" y="545642"/>
                </a:lnTo>
                <a:lnTo>
                  <a:pt x="2949537" y="532866"/>
                </a:lnTo>
                <a:lnTo>
                  <a:pt x="2992386" y="512521"/>
                </a:lnTo>
                <a:lnTo>
                  <a:pt x="3030778" y="485381"/>
                </a:lnTo>
                <a:lnTo>
                  <a:pt x="3063925" y="452234"/>
                </a:lnTo>
                <a:lnTo>
                  <a:pt x="3091053" y="413854"/>
                </a:lnTo>
                <a:lnTo>
                  <a:pt x="3111398" y="371005"/>
                </a:lnTo>
                <a:lnTo>
                  <a:pt x="3118916" y="343611"/>
                </a:lnTo>
                <a:lnTo>
                  <a:pt x="5679643" y="343611"/>
                </a:lnTo>
                <a:lnTo>
                  <a:pt x="5690349" y="341452"/>
                </a:lnTo>
                <a:lnTo>
                  <a:pt x="5699087" y="335559"/>
                </a:lnTo>
                <a:lnTo>
                  <a:pt x="5704979" y="326821"/>
                </a:lnTo>
                <a:lnTo>
                  <a:pt x="5707138" y="316115"/>
                </a:lnTo>
                <a:lnTo>
                  <a:pt x="5707138" y="279679"/>
                </a:lnTo>
                <a:close/>
              </a:path>
            </a:pathLst>
          </a:custGeom>
          <a:solidFill xmlns:a="http://schemas.openxmlformats.org/drawingml/2006/main">
            <a:srgbClr val="1C977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8A95078D-AFEC-4E75-A3A7-81380042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70" y="4452610"/>
            <a:ext cx="142240" cy="284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700" spc="-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1700">
              <a:latin typeface="Segoe UI"/>
              <a:ea typeface="Segoe UI"/>
              <a:cs typeface="Segoe UI"/>
            </a:endParaR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5FD30731-5DF5-426B-834F-F3A853EA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76" y="5022015"/>
            <a:ext cx="4866640" cy="972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Noisy</a:t>
            </a:r>
            <a:r>
              <a:rPr sz="1800" spc="-10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Social</a:t>
            </a:r>
            <a:r>
              <a:rPr sz="1800" spc="-1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Media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6900"/>
              </a:lnSpc>
              <a:spcBef>
                <a:spcPts val="695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Social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media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is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rife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with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typos,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abbreviations,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emojis,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slang,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which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can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hinder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accurate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analysis.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F388380-C22F-4665-8180-451CDAEF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754" y="4279823"/>
            <a:ext cx="5707380" cy="550545"/>
          </a:xfrm>
          <a:custGeom xmlns:a="http://schemas.openxmlformats.org/drawingml/2006/main">
            <a:rect l="l" t="t" r="r" b="b"/>
            <a:pathLst>
              <a:path w="5707380" h="550545">
                <a:moveTo>
                  <a:pt x="5707253" y="279679"/>
                </a:moveTo>
                <a:lnTo>
                  <a:pt x="5705094" y="268973"/>
                </a:lnTo>
                <a:lnTo>
                  <a:pt x="5699201" y="260235"/>
                </a:lnTo>
                <a:lnTo>
                  <a:pt x="5690463" y="254342"/>
                </a:lnTo>
                <a:lnTo>
                  <a:pt x="5679757" y="252171"/>
                </a:lnTo>
                <a:lnTo>
                  <a:pt x="3126549" y="252171"/>
                </a:lnTo>
                <a:lnTo>
                  <a:pt x="3124174" y="225602"/>
                </a:lnTo>
                <a:lnTo>
                  <a:pt x="3111398" y="179070"/>
                </a:lnTo>
                <a:lnTo>
                  <a:pt x="3091053" y="136220"/>
                </a:lnTo>
                <a:lnTo>
                  <a:pt x="3063913" y="97840"/>
                </a:lnTo>
                <a:lnTo>
                  <a:pt x="3030766" y="64693"/>
                </a:lnTo>
                <a:lnTo>
                  <a:pt x="2992386" y="37553"/>
                </a:lnTo>
                <a:lnTo>
                  <a:pt x="2949537" y="17208"/>
                </a:lnTo>
                <a:lnTo>
                  <a:pt x="2903004" y="4432"/>
                </a:lnTo>
                <a:lnTo>
                  <a:pt x="2853575" y="0"/>
                </a:lnTo>
                <a:lnTo>
                  <a:pt x="2804134" y="4432"/>
                </a:lnTo>
                <a:lnTo>
                  <a:pt x="2757601" y="17208"/>
                </a:lnTo>
                <a:lnTo>
                  <a:pt x="2714752" y="37553"/>
                </a:lnTo>
                <a:lnTo>
                  <a:pt x="2676372" y="64693"/>
                </a:lnTo>
                <a:lnTo>
                  <a:pt x="2643225" y="97840"/>
                </a:lnTo>
                <a:lnTo>
                  <a:pt x="2616085" y="136220"/>
                </a:lnTo>
                <a:lnTo>
                  <a:pt x="2595740" y="179070"/>
                </a:lnTo>
                <a:lnTo>
                  <a:pt x="2582964" y="225602"/>
                </a:lnTo>
                <a:lnTo>
                  <a:pt x="2580576" y="252171"/>
                </a:lnTo>
                <a:lnTo>
                  <a:pt x="27508" y="252171"/>
                </a:lnTo>
                <a:lnTo>
                  <a:pt x="16802" y="254342"/>
                </a:lnTo>
                <a:lnTo>
                  <a:pt x="8051" y="260235"/>
                </a:lnTo>
                <a:lnTo>
                  <a:pt x="2159" y="268973"/>
                </a:lnTo>
                <a:lnTo>
                  <a:pt x="0" y="279679"/>
                </a:lnTo>
                <a:lnTo>
                  <a:pt x="0" y="316115"/>
                </a:lnTo>
                <a:lnTo>
                  <a:pt x="2159" y="326821"/>
                </a:lnTo>
                <a:lnTo>
                  <a:pt x="8051" y="335559"/>
                </a:lnTo>
                <a:lnTo>
                  <a:pt x="16802" y="341452"/>
                </a:lnTo>
                <a:lnTo>
                  <a:pt x="27508" y="343611"/>
                </a:lnTo>
                <a:lnTo>
                  <a:pt x="2588209" y="343611"/>
                </a:lnTo>
                <a:lnTo>
                  <a:pt x="2595740" y="371005"/>
                </a:lnTo>
                <a:lnTo>
                  <a:pt x="2616085" y="413854"/>
                </a:lnTo>
                <a:lnTo>
                  <a:pt x="2643225" y="452234"/>
                </a:lnTo>
                <a:lnTo>
                  <a:pt x="2676372" y="485381"/>
                </a:lnTo>
                <a:lnTo>
                  <a:pt x="2714752" y="512521"/>
                </a:lnTo>
                <a:lnTo>
                  <a:pt x="2757601" y="532866"/>
                </a:lnTo>
                <a:lnTo>
                  <a:pt x="2804134" y="545642"/>
                </a:lnTo>
                <a:lnTo>
                  <a:pt x="2853575" y="550075"/>
                </a:lnTo>
                <a:lnTo>
                  <a:pt x="2903004" y="545642"/>
                </a:lnTo>
                <a:lnTo>
                  <a:pt x="2949537" y="532866"/>
                </a:lnTo>
                <a:lnTo>
                  <a:pt x="2992386" y="512521"/>
                </a:lnTo>
                <a:lnTo>
                  <a:pt x="3030766" y="485381"/>
                </a:lnTo>
                <a:lnTo>
                  <a:pt x="3063913" y="452234"/>
                </a:lnTo>
                <a:lnTo>
                  <a:pt x="3091053" y="413854"/>
                </a:lnTo>
                <a:lnTo>
                  <a:pt x="3111398" y="371005"/>
                </a:lnTo>
                <a:lnTo>
                  <a:pt x="3118916" y="343611"/>
                </a:lnTo>
                <a:lnTo>
                  <a:pt x="5679757" y="343611"/>
                </a:lnTo>
                <a:lnTo>
                  <a:pt x="5690463" y="341452"/>
                </a:lnTo>
                <a:lnTo>
                  <a:pt x="5699201" y="335559"/>
                </a:lnTo>
                <a:lnTo>
                  <a:pt x="5705094" y="326821"/>
                </a:lnTo>
                <a:lnTo>
                  <a:pt x="5707253" y="316115"/>
                </a:lnTo>
                <a:lnTo>
                  <a:pt x="5707253" y="279679"/>
                </a:lnTo>
                <a:close/>
              </a:path>
            </a:pathLst>
          </a:custGeom>
          <a:solidFill xmlns:a="http://schemas.openxmlformats.org/drawingml/2006/main">
            <a:srgbClr val="1C977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884BDE2-F3EA-40B1-A242-53FA0458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069" y="4452610"/>
            <a:ext cx="142240" cy="284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700" spc="-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1700">
              <a:latin typeface="Segoe UI"/>
              <a:ea typeface="Segoe UI"/>
              <a:cs typeface="Segoe UI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92167234-E3AA-477E-A000-C4C4E222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274" y="5022015"/>
            <a:ext cx="5290185" cy="1264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Unbalanced</a:t>
            </a:r>
            <a:r>
              <a:rPr sz="1800" spc="-10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Classes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6900"/>
              </a:lnSpc>
              <a:spcBef>
                <a:spcPts val="695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Datasets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frequently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have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disproportionate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number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samples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for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certain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classes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(e.g.,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many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more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positive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than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negative),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leading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biased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models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[4].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2233A681-C52A-4268-921E-674EB476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560" y="6677384"/>
            <a:ext cx="1152461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36900"/>
              </a:lnSpc>
              <a:spcBef>
                <a:spcPts val="10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Our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primary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goal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is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determine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which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machine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learning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classifier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performs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optimally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multi-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classification,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effectively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addressing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these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real-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world</a:t>
            </a:r>
            <a:r>
              <a:rPr sz="140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textual</a:t>
            </a:r>
            <a:r>
              <a:rPr sz="140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complexities.</a:t>
            </a:r>
            <a:endParaRPr sz="140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31350875"/>
      </p:ext>
    </p:extLst>
  </p:cSld>
</p:sld>
</file>

<file path=ppt/slides/slide5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64538DB5-1C15-4E92-9052-B5BFE41628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2907" rIns="0" bIns="0">
            <a:spAutoFit/>
          </a:bodyPr>
          <a:lstStyle xmlns:a="http://schemas.openxmlformats.org/drawingml/2006/main"/>
          <a:p xmlns:a="http://schemas.openxmlformats.org/drawingml/2006/main">
            <a:pPr marL="583565">
              <a:lnSpc>
                <a:spcPct val="100000"/>
              </a:lnSpc>
              <a:spcBef>
                <a:spcPts val="100"/>
              </a:spcBef>
              <a:buNone/>
            </a:pPr>
            <a:r>
              <a:rPr sz="3700"/>
              <a:t>Key</a:t>
            </a:r>
            <a:r>
              <a:rPr sz="3700" spc="-125"/>
              <a:t> </a:t>
            </a:r>
            <a:r>
              <a:rPr sz="3700"/>
              <a:t>Objectives</a:t>
            </a:r>
            <a:r>
              <a:rPr sz="3700" spc="-120"/>
              <a:t> </a:t>
            </a:r>
            <a:r>
              <a:rPr sz="3700"/>
              <a:t>for</a:t>
            </a:r>
            <a:r>
              <a:rPr sz="3700" spc="-120"/>
              <a:t> </a:t>
            </a:r>
            <a:r>
              <a:rPr sz="3700"/>
              <a:t>Robust</a:t>
            </a:r>
            <a:r>
              <a:rPr sz="3700" spc="-120"/>
              <a:t> </a:t>
            </a:r>
            <a:r>
              <a:rPr sz="3700"/>
              <a:t>Sentiment</a:t>
            </a:r>
            <a:r>
              <a:rPr sz="3700" spc="-125"/>
              <a:t> </a:t>
            </a:r>
            <a:r>
              <a:rPr sz="3700" spc="-10"/>
              <a:t>Classification</a:t>
            </a:r>
            <a:endParaRPr sz="3700"/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B87D20B6-497C-4FF3-9FA7-91AA0300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064" y="1975521"/>
            <a:ext cx="8525510" cy="5213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Preprocess</a:t>
            </a:r>
            <a:r>
              <a:rPr sz="1850" spc="-7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Raw</a:t>
            </a:r>
            <a:r>
              <a:rPr sz="1850" spc="-7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</a:t>
            </a:r>
            <a:endParaRPr sz="18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335"/>
              </a:spcBef>
              <a:buNone/>
            </a:pP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Clean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normalize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textual</a:t>
            </a:r>
            <a:r>
              <a:rPr sz="145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ensure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quality</a:t>
            </a:r>
            <a:r>
              <a:rPr sz="145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input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models.</a:t>
            </a:r>
            <a:endParaRPr sz="145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660"/>
              </a:spcBef>
              <a:buNone/>
            </a:pPr>
            <a:endParaRPr sz="14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5"/>
              </a:spcBef>
              <a:buNone/>
            </a:pPr>
            <a:r>
              <a:rPr sz="18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Convert</a:t>
            </a:r>
            <a:r>
              <a:rPr sz="185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</a:t>
            </a:r>
            <a:r>
              <a:rPr sz="18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8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Features</a:t>
            </a:r>
            <a:endParaRPr sz="18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335"/>
              </a:spcBef>
              <a:buNone/>
            </a:pP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Transform</a:t>
            </a:r>
            <a:r>
              <a:rPr sz="14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linguistic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14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into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numerical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representations</a:t>
            </a:r>
            <a:r>
              <a:rPr sz="14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understandable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by</a:t>
            </a:r>
            <a:r>
              <a:rPr sz="14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machine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learning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algorithms.</a:t>
            </a:r>
            <a:endParaRPr sz="145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660"/>
              </a:spcBef>
              <a:buNone/>
            </a:pPr>
            <a:endParaRPr sz="14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5"/>
              </a:spcBef>
              <a:buNone/>
            </a:pPr>
            <a:r>
              <a:rPr sz="18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Implement</a:t>
            </a:r>
            <a:r>
              <a:rPr sz="1850" spc="-9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Models</a:t>
            </a:r>
            <a:endParaRPr sz="18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335"/>
              </a:spcBef>
              <a:buNone/>
            </a:pP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Apply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configure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both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Naive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Bayes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4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Support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Vector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Machine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classifiers.</a:t>
            </a:r>
            <a:endParaRPr sz="145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660"/>
              </a:spcBef>
              <a:buNone/>
            </a:pPr>
            <a:endParaRPr sz="14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5"/>
              </a:spcBef>
              <a:buNone/>
            </a:pPr>
            <a:r>
              <a:rPr sz="18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Compare</a:t>
            </a:r>
            <a:r>
              <a:rPr sz="185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Performance</a:t>
            </a:r>
            <a:endParaRPr sz="18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335"/>
              </a:spcBef>
              <a:buNone/>
            </a:pP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Evaluate</a:t>
            </a:r>
            <a:r>
              <a:rPr sz="14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models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using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standard</a:t>
            </a:r>
            <a:r>
              <a:rPr sz="14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metrics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assess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their</a:t>
            </a:r>
            <a:r>
              <a:rPr sz="14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effectiveness.</a:t>
            </a:r>
            <a:endParaRPr sz="145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660"/>
              </a:spcBef>
              <a:buNone/>
            </a:pPr>
            <a:endParaRPr sz="14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5"/>
              </a:spcBef>
              <a:buNone/>
            </a:pPr>
            <a:r>
              <a:rPr sz="18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Identify</a:t>
            </a:r>
            <a:r>
              <a:rPr sz="1850" spc="-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Best</a:t>
            </a:r>
            <a:r>
              <a:rPr sz="1850" spc="-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Model</a:t>
            </a:r>
            <a:endParaRPr sz="18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335"/>
              </a:spcBef>
              <a:buNone/>
            </a:pP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Determine</a:t>
            </a:r>
            <a:r>
              <a:rPr sz="14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most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suitable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classifier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given</a:t>
            </a:r>
            <a:r>
              <a:rPr sz="14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multi-class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task.</a:t>
            </a:r>
            <a:endParaRPr sz="1450">
              <a:latin typeface="Segoe UI"/>
              <a:ea typeface="Segoe UI"/>
              <a:cs typeface="Segoe UI"/>
            </a:endParaRPr>
          </a:p>
        </p:txBody>
      </p:sp>
      <p:pic>
        <p:nvPicPr>
          <p:cNvPr id="7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c913f112f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4932" y="1774746"/>
            <a:ext cx="940713" cy="56441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815816"/>
      </p:ext>
    </p:extLst>
  </p:cSld>
</p:sld>
</file>

<file path=ppt/slides/slide6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D10E8F1-D036-4282-9707-8F6D229BA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41031" y="8711"/>
            <a:ext cx="5748655" cy="6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Literature</a:t>
            </a:r>
            <a:r>
              <a:rPr sz="4000" spc="-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4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4000" spc="-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4000" spc="-1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Summary</a:t>
            </a:r>
            <a:endParaRPr sz="40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object 3"/>
          <p:cNvGraphicFramePr/>
          <p:nvPr/>
        </p:nvGraphicFramePr>
        <p:xfrm>
          <a:off xmlns:a="http://schemas.openxmlformats.org/drawingml/2006/main" x="361639" y="717643"/>
          <a:ext xmlns:a="http://schemas.openxmlformats.org/drawingml/2006/main" cx="14184630" cy="722820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9510"/>
                <a:gridCol w="2687319"/>
                <a:gridCol w="1684020"/>
                <a:gridCol w="4594225"/>
                <a:gridCol w="3970019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b="1" spc="-10">
                          <a:latin typeface="Calibri"/>
                          <a:ea typeface="Calibri"/>
                          <a:cs typeface="Calibri"/>
                        </a:rPr>
                        <a:t>S.no.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2810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b="1" spc="-10">
                          <a:latin typeface="Calibri"/>
                          <a:ea typeface="Calibri"/>
                          <a:cs typeface="Calibri"/>
                        </a:rPr>
                        <a:t>Author(s)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b="1" spc="-20"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b="1" spc="-10">
                          <a:latin typeface="Calibri"/>
                          <a:ea typeface="Calibri"/>
                          <a:cs typeface="Calibri"/>
                        </a:rPr>
                        <a:t>Title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b="1" spc="-10">
                          <a:latin typeface="Calibri"/>
                          <a:ea typeface="Calibri"/>
                          <a:cs typeface="Calibri"/>
                        </a:rPr>
                        <a:t>Summary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5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H.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Yang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et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al.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LLMs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Meet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Text-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Centric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Multimodal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Sentiment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R="451484" algn="ctr">
                        <a:lnSpc>
                          <a:spcPct val="100000"/>
                        </a:lnSpc>
                        <a:buNone/>
                      </a:pP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Analysis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Surveys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recent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advancements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using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R="633730" algn="ctr">
                        <a:lnSpc>
                          <a:spcPct val="100000"/>
                        </a:lnSpc>
                        <a:buNone/>
                      </a:pP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LLMs.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5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W.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Zhang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et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al.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Evaluating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Emotions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the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Age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Big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Language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R="535940" algn="ctr">
                        <a:lnSpc>
                          <a:spcPct val="100000"/>
                        </a:lnSpc>
                        <a:buNone/>
                      </a:pP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Models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 marR="143510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Evaluates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the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effectiveness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LLMs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like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ChatGPT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versus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traditional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models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for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sentiment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analysis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across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multiple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R="864869" algn="ctr">
                        <a:lnSpc>
                          <a:spcPct val="100000"/>
                        </a:lnSpc>
                        <a:buNone/>
                      </a:pP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datasets.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5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Y.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Liu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et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al.</a:t>
                      </a:r>
                      <a:r>
                        <a:rPr sz="1800" spc="-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[4]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0630" marR="546735" indent="-676275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Modelling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Sentiment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Motivated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by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Quantum</a:t>
                      </a:r>
                      <a:r>
                        <a:rPr sz="1800" spc="-5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Cognition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9109" marR="491490" indent="6985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Explores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quantum-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highlighting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theoretical</a:t>
                      </a:r>
                      <a:r>
                        <a:rPr sz="1800" spc="-5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contextual</a:t>
                      </a:r>
                      <a:r>
                        <a:rPr sz="1800" spc="-5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modeling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264285">
                        <a:lnSpc>
                          <a:spcPct val="100000"/>
                        </a:lnSpc>
                        <a:buNone/>
                      </a:pP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benefits.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5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S.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Rani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and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P.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Kumar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[8]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5080" marR="555625" indent="-711835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Dependent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Reading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Aspect-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Based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sentiment</a:t>
                      </a:r>
                      <a:r>
                        <a:rPr sz="1800" spc="-4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evaluation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4740" marR="114935" indent="-972819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Develops</a:t>
                      </a:r>
                      <a:r>
                        <a:rPr sz="1800" spc="-5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sz="1800" spc="-4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dependency</a:t>
                      </a:r>
                      <a:r>
                        <a:rPr sz="1800" spc="-4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parsing</a:t>
                      </a:r>
                      <a:r>
                        <a:rPr sz="1800" spc="-4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method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languages.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80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5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B.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A.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Januario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et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al.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[9]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Sentiment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Brazilian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Stock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Market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News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 marR="133985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Analyzes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sentiment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from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financial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news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related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to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the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Brazilian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stock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market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to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support</a:t>
                      </a:r>
                      <a:r>
                        <a:rPr sz="1800" spc="-4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investment</a:t>
                      </a:r>
                      <a:r>
                        <a:rPr sz="1800" spc="-3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decisions.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5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X.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Ouyang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et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al.</a:t>
                      </a:r>
                      <a:r>
                        <a:rPr sz="1800" spc="-1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[10]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2015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2880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CNN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Sentiment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Analysis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0" marR="189230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One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the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first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studies</a:t>
                      </a:r>
                      <a:r>
                        <a:rPr sz="1800" spc="-2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using</a:t>
                      </a:r>
                      <a:r>
                        <a:rPr sz="1800" spc="-3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machine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learning</a:t>
                      </a:r>
                      <a:r>
                        <a:rPr sz="1800" spc="-5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for </a:t>
                      </a:r>
                      <a:r>
                        <a:rPr sz="1800" spc="-20">
                          <a:latin typeface="Calibri"/>
                          <a:ea typeface="Calibri"/>
                          <a:cs typeface="Calibri"/>
                        </a:rPr>
                        <a:t>document-</a:t>
                      </a: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level </a:t>
                      </a:r>
                      <a:r>
                        <a:rPr sz="1800" spc="-10">
                          <a:latin typeface="Calibri"/>
                          <a:ea typeface="Calibri"/>
                          <a:cs typeface="Calibri"/>
                        </a:rPr>
                        <a:t>sentiment classification.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62653"/>
      </p:ext>
    </p:extLst>
  </p:cSld>
</p:sld>
</file>

<file path=ppt/slides/slide7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E0D3043-23E6-4E10-A4CE-9C9BA4390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40605" y="249707"/>
            <a:ext cx="3281045" cy="6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000">
                <a:latin typeface="Times New Roman"/>
                <a:ea typeface="Times New Roman"/>
                <a:cs typeface="Times New Roman"/>
              </a:rPr>
              <a:t>Dataset</a:t>
            </a:r>
            <a:r>
              <a:rPr sz="4000" spc="-125">
                <a:latin typeface="Times New Roman"/>
                <a:ea typeface="Times New Roman"/>
                <a:cs typeface="Times New Roman"/>
              </a:rPr>
              <a:t> </a:t>
            </a:r>
            <a:r>
              <a:rPr sz="4000" spc="-10">
                <a:latin typeface="Times New Roman"/>
                <a:ea typeface="Times New Roman"/>
                <a:cs typeface="Times New Roman"/>
              </a:rPr>
              <a:t>Insights</a:t>
            </a:r>
            <a:endParaRPr sz="4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181F26AA-CE3F-4BD1-8FFB-E4CD048C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41" y="1022379"/>
            <a:ext cx="8373745" cy="434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01899"/>
              </a:lnSpc>
              <a:spcBef>
                <a:spcPts val="55"/>
              </a:spcBef>
              <a:buNone/>
            </a:pP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The repository uses CSV files with three sentiment classes: positive, negative, and neutral.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55600" marR="5080" indent="-342900">
              <a:lnSpc>
                <a:spcPct val="101899"/>
              </a:lnSpc>
              <a:spcBef>
                <a:spcPts val="1660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1800" b="1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Cleaning removes missing rows, normalized duplicates, conflicting-label groups, and train/test text overlap.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55600" marR="5080" indent="-342900">
              <a:lnSpc>
                <a:spcPct val="101899"/>
              </a:lnSpc>
              <a:spcBef>
                <a:spcPts val="1765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1800" b="1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Raw rows: 27,481 train and 4,815 test.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415"/>
              </a:spcBef>
              <a:buClr>
                <a:srgbClr val="464646"/>
              </a:buClr>
              <a:buFont typeface="Times New Roman"/>
              <a:buChar char="•"/>
            </a:pPr>
            <a:r>
              <a:t>Cleaned rows: 27,367 train and 3,529 test.</a:t>
            </a: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135255">
              <a:lnSpc>
                <a:spcPct val="100000"/>
              </a:lnSpc>
              <a:buNone/>
            </a:pP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Test classes: 999 negative, 1,429 neutral, and 1,101 positive texts.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4648893D-0259-424F-9AE0-E0AB8F01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273" y="6050913"/>
            <a:ext cx="8084184" cy="88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318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ts val="2200"/>
              </a:lnSpc>
              <a:spcBef>
                <a:spcPts val="340"/>
              </a:spcBef>
              <a:buNone/>
            </a:pPr>
            <a:r>
              <a:rPr sz="20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Dataset counts and class distribution come from artifacts/sentiment.json, generated by the current training pipeline.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DCAFA632-AF88-4290-87B7-FFB6A174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324" y="7074785"/>
            <a:ext cx="255206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Figure</a:t>
            </a:r>
            <a:r>
              <a:rPr sz="1800" spc="-35"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latin typeface="Times New Roman"/>
                <a:ea typeface="Times New Roman"/>
                <a:cs typeface="Times New Roman"/>
              </a:rPr>
              <a:t>2.</a:t>
            </a:r>
            <a:r>
              <a:rPr sz="1800" spc="-35"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latin typeface="Times New Roman"/>
                <a:ea typeface="Times New Roman"/>
                <a:cs typeface="Times New Roman"/>
              </a:rPr>
              <a:t>Dataset</a:t>
            </a:r>
            <a:r>
              <a:rPr sz="1800" spc="-35"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ea typeface="Times New Roman"/>
                <a:cs typeface="Times New Roman"/>
              </a:rPr>
              <a:t>Overview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5469BB9D-1BC6-4B54-BCA8-93FD052B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700" y="1505413"/>
            <a:ext cx="1270" cy="4614545"/>
          </a:xfrm>
          <a:custGeom xmlns:a="http://schemas.openxmlformats.org/drawingml/2006/main">
            <a:rect l="l" t="t" r="r" b="b"/>
            <a:pathLst>
              <a:path w="1270" h="4614545">
                <a:moveTo>
                  <a:pt x="0" y="0"/>
                </a:moveTo>
                <a:lnTo>
                  <a:pt x="1269" y="4613941"/>
                </a:lnTo>
              </a:path>
            </a:pathLst>
          </a:custGeom>
          <a:ln xmlns:a="http://schemas.openxmlformats.org/drawingml/2006/main" w="12699">
            <a:solidFill>
              <a:srgbClr val="0000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443787837"/>
      </p:ext>
    </p:extLst>
  </p:cSld>
</p:sld>
</file>

<file path=ppt/slides/slide8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F0654321-7FCF-4E36-B62C-AA737FC1B1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450" spc="-35"/>
              <a:t>Methodology</a:t>
            </a:r>
            <a:endParaRPr sz="4450"/>
          </a:p>
        </p:txBody>
      </p:sp>
      <p:pic>
        <p:nvPicPr>
          <p:cNvPr id="24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e67c561be4d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02625" y="1836778"/>
            <a:ext cx="12625030" cy="4737496"/>
          </a:xfrm>
          <a:prstGeom xmlns:a="http://schemas.openxmlformats.org/drawingml/2006/main" prst="rect">
            <a:avLst/>
          </a:prstGeom>
        </p:spPr>
      </p:pic>
      <p:pic>
        <p:nvPicPr>
          <p:cNvPr id="25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95fea980148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784545" y="3043502"/>
            <a:ext cx="652134" cy="652134"/>
          </a:xfrm>
          <a:prstGeom xmlns:a="http://schemas.openxmlformats.org/drawingml/2006/main" prst="rect">
            <a:avLst/>
          </a:prstGeom>
        </p:spPr>
      </p:pic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83FFB80-FF7D-409F-A875-1E24F3FE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7034" y="5239959"/>
            <a:ext cx="1579245" cy="231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Testing</a:t>
            </a:r>
            <a:r>
              <a:rPr sz="13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&amp;</a:t>
            </a:r>
            <a:r>
              <a:rPr sz="13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Evaluation</a:t>
            </a:r>
            <a:endParaRPr sz="1350">
              <a:latin typeface="Segoe UI"/>
              <a:ea typeface="Segoe UI"/>
              <a:cs typeface="Segoe UI"/>
            </a:endParaRPr>
          </a:p>
        </p:txBody>
      </p:sp>
      <p:pic>
        <p:nvPicPr>
          <p:cNvPr id="27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71d69badf4a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397120" y="3044724"/>
            <a:ext cx="652134" cy="652134"/>
          </a:xfrm>
          <a:prstGeom xmlns:a="http://schemas.openxmlformats.org/drawingml/2006/main" prst="rect">
            <a:avLst/>
          </a:prstGeom>
        </p:spPr>
      </p:pic>
      <p:pic>
        <p:nvPicPr>
          <p:cNvPr id="28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58639aa9f4e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010307" y="3044724"/>
            <a:ext cx="652134" cy="652134"/>
          </a:xfrm>
          <a:prstGeom xmlns:a="http://schemas.openxmlformats.org/drawingml/2006/main" prst="rect">
            <a:avLst/>
          </a:prstGeom>
        </p:spPr>
      </p:pic>
      <p:pic>
        <p:nvPicPr>
          <p:cNvPr id="29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907ed865d4b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623493" y="3044724"/>
            <a:ext cx="652134" cy="652134"/>
          </a:xfrm>
          <a:prstGeom xmlns:a="http://schemas.openxmlformats.org/drawingml/2006/main" prst="rect">
            <a:avLst/>
          </a:prstGeom>
        </p:spPr>
      </p:pic>
      <p:pic>
        <p:nvPicPr>
          <p:cNvPr id="30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4bc7839984a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223635" y="3044724"/>
            <a:ext cx="652134" cy="652134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D5D990FC-851C-44CE-B2B1-E7302417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5003" y="5239959"/>
            <a:ext cx="1163320" cy="231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Model</a:t>
            </a:r>
            <a:r>
              <a:rPr sz="135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Training</a:t>
            </a:r>
            <a:endParaRPr sz="1350">
              <a:latin typeface="Segoe UI"/>
              <a:ea typeface="Segoe UI"/>
              <a:cs typeface="Segoe UI"/>
            </a:endParaRP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B346D20-0ED3-4550-9080-FD467345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383" y="5239959"/>
            <a:ext cx="1365885" cy="231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Feature</a:t>
            </a:r>
            <a:r>
              <a:rPr sz="13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Extraction</a:t>
            </a:r>
            <a:endParaRPr sz="1350">
              <a:latin typeface="Segoe UI"/>
              <a:ea typeface="Segoe UI"/>
              <a:cs typeface="Segoe UI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CEC1897-0875-4601-96D7-5C155F92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92" y="5239959"/>
            <a:ext cx="1075055" cy="231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Preprocessing</a:t>
            </a:r>
            <a:endParaRPr sz="1350">
              <a:latin typeface="Segoe UI"/>
              <a:ea typeface="Segoe UI"/>
              <a:cs typeface="Segoe UI"/>
            </a:endParaRP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A9E47391-D757-476C-9D7C-BA38BD1F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214" y="5239959"/>
            <a:ext cx="1162050" cy="231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1350" spc="-9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Collection</a:t>
            </a:r>
            <a:endParaRPr sz="1350">
              <a:latin typeface="Segoe UI"/>
              <a:ea typeface="Segoe UI"/>
              <a:cs typeface="Segoe UI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1CED878-3EFC-451E-9C74-13CA8113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90" y="6804673"/>
            <a:ext cx="12911455" cy="73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33300"/>
              </a:lnSpc>
              <a:spcBef>
                <a:spcPts val="100"/>
              </a:spcBef>
              <a:buNone/>
            </a:pPr>
            <a:r>
              <a:rPr sz="17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 stratified validation split ranks the models. Final models are retrained on all cleaned training texts and evaluated on the cleaned held-out test set.</a:t>
            </a:r>
            <a:endParaRPr sz="175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2657581"/>
      </p:ext>
    </p:extLst>
  </p:cSld>
</p:sld>
</file>

<file path=ppt/slides/slide9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A33619F6-9451-45FD-95E7-E9CE60AC9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535430">
              <a:lnSpc>
                <a:spcPct val="100000"/>
              </a:lnSpc>
              <a:spcBef>
                <a:spcPts val="100"/>
              </a:spcBef>
              <a:buNone/>
            </a:pPr>
            <a:r>
              <a:t>Data</a:t>
            </a:r>
            <a:r>
              <a:rPr spc="-155"/>
              <a:t> </a:t>
            </a:r>
            <a:r>
              <a:rPr spc="-30"/>
              <a:t>Preprocessing</a:t>
            </a: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3693E3F8-1E9E-4033-8950-92A6FE3C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16956" y="1491495"/>
            <a:ext cx="632460" cy="948690"/>
          </a:xfrm>
          <a:custGeom xmlns:a="http://schemas.openxmlformats.org/drawingml/2006/main">
            <a:rect l="l" t="t" r="r" b="b"/>
            <a:pathLst>
              <a:path w="632460" h="948689">
                <a:moveTo>
                  <a:pt x="316050" y="0"/>
                </a:moveTo>
                <a:lnTo>
                  <a:pt x="269347" y="3426"/>
                </a:lnTo>
                <a:lnTo>
                  <a:pt x="224771" y="13381"/>
                </a:lnTo>
                <a:lnTo>
                  <a:pt x="182811" y="29374"/>
                </a:lnTo>
                <a:lnTo>
                  <a:pt x="143957" y="50917"/>
                </a:lnTo>
                <a:lnTo>
                  <a:pt x="108698" y="77522"/>
                </a:lnTo>
                <a:lnTo>
                  <a:pt x="77521" y="108698"/>
                </a:lnTo>
                <a:lnTo>
                  <a:pt x="50917" y="143958"/>
                </a:lnTo>
                <a:lnTo>
                  <a:pt x="29374" y="182812"/>
                </a:lnTo>
                <a:lnTo>
                  <a:pt x="13381" y="224771"/>
                </a:lnTo>
                <a:lnTo>
                  <a:pt x="3426" y="269348"/>
                </a:lnTo>
                <a:lnTo>
                  <a:pt x="0" y="316052"/>
                </a:lnTo>
                <a:lnTo>
                  <a:pt x="0" y="632162"/>
                </a:lnTo>
                <a:lnTo>
                  <a:pt x="3426" y="678866"/>
                </a:lnTo>
                <a:lnTo>
                  <a:pt x="13381" y="723442"/>
                </a:lnTo>
                <a:lnTo>
                  <a:pt x="29374" y="765401"/>
                </a:lnTo>
                <a:lnTo>
                  <a:pt x="50917" y="804255"/>
                </a:lnTo>
                <a:lnTo>
                  <a:pt x="77521" y="839515"/>
                </a:lnTo>
                <a:lnTo>
                  <a:pt x="108698" y="870691"/>
                </a:lnTo>
                <a:lnTo>
                  <a:pt x="143957" y="897295"/>
                </a:lnTo>
                <a:lnTo>
                  <a:pt x="182811" y="918839"/>
                </a:lnTo>
                <a:lnTo>
                  <a:pt x="224771" y="934832"/>
                </a:lnTo>
                <a:lnTo>
                  <a:pt x="269347" y="944786"/>
                </a:lnTo>
                <a:lnTo>
                  <a:pt x="316050" y="948213"/>
                </a:lnTo>
                <a:lnTo>
                  <a:pt x="362754" y="944786"/>
                </a:lnTo>
                <a:lnTo>
                  <a:pt x="407331" y="934832"/>
                </a:lnTo>
                <a:lnTo>
                  <a:pt x="449290" y="918839"/>
                </a:lnTo>
                <a:lnTo>
                  <a:pt x="488144" y="897295"/>
                </a:lnTo>
                <a:lnTo>
                  <a:pt x="523404" y="870691"/>
                </a:lnTo>
                <a:lnTo>
                  <a:pt x="554581" y="839515"/>
                </a:lnTo>
                <a:lnTo>
                  <a:pt x="581185" y="804255"/>
                </a:lnTo>
                <a:lnTo>
                  <a:pt x="602728" y="765401"/>
                </a:lnTo>
                <a:lnTo>
                  <a:pt x="618721" y="723442"/>
                </a:lnTo>
                <a:lnTo>
                  <a:pt x="628676" y="678866"/>
                </a:lnTo>
                <a:lnTo>
                  <a:pt x="632103" y="632162"/>
                </a:lnTo>
                <a:lnTo>
                  <a:pt x="632103" y="316052"/>
                </a:lnTo>
                <a:lnTo>
                  <a:pt x="628676" y="269348"/>
                </a:lnTo>
                <a:lnTo>
                  <a:pt x="618721" y="224771"/>
                </a:lnTo>
                <a:lnTo>
                  <a:pt x="602728" y="182812"/>
                </a:lnTo>
                <a:lnTo>
                  <a:pt x="581185" y="143958"/>
                </a:lnTo>
                <a:lnTo>
                  <a:pt x="554581" y="108698"/>
                </a:lnTo>
                <a:lnTo>
                  <a:pt x="523404" y="77522"/>
                </a:lnTo>
                <a:lnTo>
                  <a:pt x="488144" y="50917"/>
                </a:lnTo>
                <a:lnTo>
                  <a:pt x="449290" y="29374"/>
                </a:lnTo>
                <a:lnTo>
                  <a:pt x="407331" y="13381"/>
                </a:lnTo>
                <a:lnTo>
                  <a:pt x="362754" y="3426"/>
                </a:lnTo>
                <a:lnTo>
                  <a:pt x="316050" y="0"/>
                </a:lnTo>
                <a:close/>
              </a:path>
            </a:pathLst>
          </a:custGeom>
          <a:solidFill xmlns:a="http://schemas.openxmlformats.org/drawingml/2006/main">
            <a:srgbClr val="F2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29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506083afb4b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14480" y="1847016"/>
            <a:ext cx="237052" cy="237052"/>
          </a:xfrm>
          <a:prstGeom xmlns:a="http://schemas.openxmlformats.org/drawingml/2006/main" prst="rect">
            <a:avLst/>
          </a:prstGeom>
        </p:spPr>
      </p:pic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C0A8D97-45CC-4FCC-A835-378DC8C6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354" y="1488398"/>
            <a:ext cx="6259195" cy="40944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6845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35"/>
              </a:spcBef>
              <a:buNone/>
            </a:pPr>
            <a:r>
              <a:rPr sz="18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Unicode and case normalization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885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Normalizes Unicode, lowercases text, and trims whitespace.</a:t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t/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260"/>
              </a:spcBef>
              <a:buNone/>
            </a:pPr>
            <a:r>
              <a:t>URLs, mentions, and negation</a:t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8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Maps URLs and @mentions to tokens and expands negative contractions.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23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/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780"/>
              </a:spcBef>
              <a:buNone/>
            </a:pPr>
            <a:r>
              <a:t>Duplicate and label checks</a:t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Removes empty rows, normalized duplicates, conflicting-label groups, and train/test overlap.</a:t>
            </a:r>
            <a:endParaRPr sz="1800">
              <a:latin typeface="Segoe UI"/>
              <a:ea typeface="Segoe UI"/>
              <a:cs typeface="Segoe UI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8B5F6430-4BCE-44F0-8F1C-57F85CA8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16956" y="2597706"/>
            <a:ext cx="632460" cy="948690"/>
          </a:xfrm>
          <a:custGeom xmlns:a="http://schemas.openxmlformats.org/drawingml/2006/main">
            <a:rect l="l" t="t" r="r" b="b"/>
            <a:pathLst>
              <a:path w="632460" h="948689">
                <a:moveTo>
                  <a:pt x="316050" y="0"/>
                </a:moveTo>
                <a:lnTo>
                  <a:pt x="269347" y="3426"/>
                </a:lnTo>
                <a:lnTo>
                  <a:pt x="224771" y="13381"/>
                </a:lnTo>
                <a:lnTo>
                  <a:pt x="182811" y="29374"/>
                </a:lnTo>
                <a:lnTo>
                  <a:pt x="143957" y="50917"/>
                </a:lnTo>
                <a:lnTo>
                  <a:pt x="108698" y="77521"/>
                </a:lnTo>
                <a:lnTo>
                  <a:pt x="77521" y="108698"/>
                </a:lnTo>
                <a:lnTo>
                  <a:pt x="50917" y="143957"/>
                </a:lnTo>
                <a:lnTo>
                  <a:pt x="29374" y="182811"/>
                </a:lnTo>
                <a:lnTo>
                  <a:pt x="13381" y="224771"/>
                </a:lnTo>
                <a:lnTo>
                  <a:pt x="3426" y="269347"/>
                </a:lnTo>
                <a:lnTo>
                  <a:pt x="0" y="316050"/>
                </a:lnTo>
                <a:lnTo>
                  <a:pt x="0" y="632162"/>
                </a:lnTo>
                <a:lnTo>
                  <a:pt x="3426" y="678866"/>
                </a:lnTo>
                <a:lnTo>
                  <a:pt x="13381" y="723442"/>
                </a:lnTo>
                <a:lnTo>
                  <a:pt x="29374" y="765401"/>
                </a:lnTo>
                <a:lnTo>
                  <a:pt x="50917" y="804255"/>
                </a:lnTo>
                <a:lnTo>
                  <a:pt x="77521" y="839515"/>
                </a:lnTo>
                <a:lnTo>
                  <a:pt x="108698" y="870691"/>
                </a:lnTo>
                <a:lnTo>
                  <a:pt x="143957" y="897295"/>
                </a:lnTo>
                <a:lnTo>
                  <a:pt x="182811" y="918839"/>
                </a:lnTo>
                <a:lnTo>
                  <a:pt x="224771" y="934832"/>
                </a:lnTo>
                <a:lnTo>
                  <a:pt x="269347" y="944786"/>
                </a:lnTo>
                <a:lnTo>
                  <a:pt x="316050" y="948213"/>
                </a:lnTo>
                <a:lnTo>
                  <a:pt x="362754" y="944786"/>
                </a:lnTo>
                <a:lnTo>
                  <a:pt x="407331" y="934832"/>
                </a:lnTo>
                <a:lnTo>
                  <a:pt x="449290" y="918839"/>
                </a:lnTo>
                <a:lnTo>
                  <a:pt x="488144" y="897295"/>
                </a:lnTo>
                <a:lnTo>
                  <a:pt x="523404" y="870691"/>
                </a:lnTo>
                <a:lnTo>
                  <a:pt x="554581" y="839515"/>
                </a:lnTo>
                <a:lnTo>
                  <a:pt x="581185" y="804255"/>
                </a:lnTo>
                <a:lnTo>
                  <a:pt x="602728" y="765401"/>
                </a:lnTo>
                <a:lnTo>
                  <a:pt x="618721" y="723442"/>
                </a:lnTo>
                <a:lnTo>
                  <a:pt x="628676" y="678866"/>
                </a:lnTo>
                <a:lnTo>
                  <a:pt x="632103" y="632162"/>
                </a:lnTo>
                <a:lnTo>
                  <a:pt x="632103" y="316050"/>
                </a:lnTo>
                <a:lnTo>
                  <a:pt x="628676" y="269347"/>
                </a:lnTo>
                <a:lnTo>
                  <a:pt x="618721" y="224771"/>
                </a:lnTo>
                <a:lnTo>
                  <a:pt x="602728" y="182811"/>
                </a:lnTo>
                <a:lnTo>
                  <a:pt x="581185" y="143957"/>
                </a:lnTo>
                <a:lnTo>
                  <a:pt x="554581" y="108698"/>
                </a:lnTo>
                <a:lnTo>
                  <a:pt x="523404" y="77521"/>
                </a:lnTo>
                <a:lnTo>
                  <a:pt x="488144" y="50917"/>
                </a:lnTo>
                <a:lnTo>
                  <a:pt x="449290" y="29374"/>
                </a:lnTo>
                <a:lnTo>
                  <a:pt x="407331" y="13381"/>
                </a:lnTo>
                <a:lnTo>
                  <a:pt x="362754" y="3426"/>
                </a:lnTo>
                <a:lnTo>
                  <a:pt x="316050" y="0"/>
                </a:lnTo>
                <a:close/>
              </a:path>
            </a:pathLst>
          </a:custGeom>
          <a:solidFill xmlns:a="http://schemas.openxmlformats.org/drawingml/2006/main">
            <a:srgbClr val="F2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32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827bf529845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14480" y="2953226"/>
            <a:ext cx="237052" cy="237052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A0459F72-84ED-48AF-A1A9-123A5657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16956" y="3703915"/>
            <a:ext cx="632460" cy="948690"/>
          </a:xfrm>
          <a:custGeom xmlns:a="http://schemas.openxmlformats.org/drawingml/2006/main">
            <a:rect l="l" t="t" r="r" b="b"/>
            <a:pathLst>
              <a:path w="632460" h="948689">
                <a:moveTo>
                  <a:pt x="316050" y="0"/>
                </a:moveTo>
                <a:lnTo>
                  <a:pt x="269347" y="3426"/>
                </a:lnTo>
                <a:lnTo>
                  <a:pt x="224770" y="13381"/>
                </a:lnTo>
                <a:lnTo>
                  <a:pt x="182811" y="29374"/>
                </a:lnTo>
                <a:lnTo>
                  <a:pt x="143957" y="50917"/>
                </a:lnTo>
                <a:lnTo>
                  <a:pt x="108697" y="77521"/>
                </a:lnTo>
                <a:lnTo>
                  <a:pt x="77521" y="108698"/>
                </a:lnTo>
                <a:lnTo>
                  <a:pt x="50917" y="143957"/>
                </a:lnTo>
                <a:lnTo>
                  <a:pt x="29374" y="182811"/>
                </a:lnTo>
                <a:lnTo>
                  <a:pt x="13381" y="224771"/>
                </a:lnTo>
                <a:lnTo>
                  <a:pt x="3426" y="269347"/>
                </a:lnTo>
                <a:lnTo>
                  <a:pt x="0" y="316050"/>
                </a:lnTo>
                <a:lnTo>
                  <a:pt x="0" y="632162"/>
                </a:lnTo>
                <a:lnTo>
                  <a:pt x="3426" y="678866"/>
                </a:lnTo>
                <a:lnTo>
                  <a:pt x="13381" y="723442"/>
                </a:lnTo>
                <a:lnTo>
                  <a:pt x="29374" y="765401"/>
                </a:lnTo>
                <a:lnTo>
                  <a:pt x="50917" y="804255"/>
                </a:lnTo>
                <a:lnTo>
                  <a:pt x="77521" y="839515"/>
                </a:lnTo>
                <a:lnTo>
                  <a:pt x="108698" y="870691"/>
                </a:lnTo>
                <a:lnTo>
                  <a:pt x="143957" y="897295"/>
                </a:lnTo>
                <a:lnTo>
                  <a:pt x="182811" y="918839"/>
                </a:lnTo>
                <a:lnTo>
                  <a:pt x="224771" y="934832"/>
                </a:lnTo>
                <a:lnTo>
                  <a:pt x="269347" y="944786"/>
                </a:lnTo>
                <a:lnTo>
                  <a:pt x="316050" y="948213"/>
                </a:lnTo>
                <a:lnTo>
                  <a:pt x="362754" y="944786"/>
                </a:lnTo>
                <a:lnTo>
                  <a:pt x="407331" y="934832"/>
                </a:lnTo>
                <a:lnTo>
                  <a:pt x="449290" y="918839"/>
                </a:lnTo>
                <a:lnTo>
                  <a:pt x="488144" y="897295"/>
                </a:lnTo>
                <a:lnTo>
                  <a:pt x="523404" y="870691"/>
                </a:lnTo>
                <a:lnTo>
                  <a:pt x="554581" y="839515"/>
                </a:lnTo>
                <a:lnTo>
                  <a:pt x="581185" y="804255"/>
                </a:lnTo>
                <a:lnTo>
                  <a:pt x="602728" y="765401"/>
                </a:lnTo>
                <a:lnTo>
                  <a:pt x="618721" y="723442"/>
                </a:lnTo>
                <a:lnTo>
                  <a:pt x="628676" y="678866"/>
                </a:lnTo>
                <a:lnTo>
                  <a:pt x="632103" y="632162"/>
                </a:lnTo>
                <a:lnTo>
                  <a:pt x="632103" y="316050"/>
                </a:lnTo>
                <a:lnTo>
                  <a:pt x="628676" y="269347"/>
                </a:lnTo>
                <a:lnTo>
                  <a:pt x="618721" y="224771"/>
                </a:lnTo>
                <a:lnTo>
                  <a:pt x="602728" y="182811"/>
                </a:lnTo>
                <a:lnTo>
                  <a:pt x="581185" y="143957"/>
                </a:lnTo>
                <a:lnTo>
                  <a:pt x="554581" y="108698"/>
                </a:lnTo>
                <a:lnTo>
                  <a:pt x="523404" y="77521"/>
                </a:lnTo>
                <a:lnTo>
                  <a:pt x="488144" y="50917"/>
                </a:lnTo>
                <a:lnTo>
                  <a:pt x="449290" y="29374"/>
                </a:lnTo>
                <a:lnTo>
                  <a:pt x="407331" y="13381"/>
                </a:lnTo>
                <a:lnTo>
                  <a:pt x="362754" y="3426"/>
                </a:lnTo>
                <a:lnTo>
                  <a:pt x="316050" y="0"/>
                </a:lnTo>
                <a:close/>
              </a:path>
            </a:pathLst>
          </a:custGeom>
          <a:solidFill xmlns:a="http://schemas.openxmlformats.org/drawingml/2006/main">
            <a:srgbClr val="F2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34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405749dd646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14480" y="4059435"/>
            <a:ext cx="237052" cy="237052"/>
          </a:xfrm>
          <a:prstGeom xmlns:a="http://schemas.openxmlformats.org/drawingml/2006/main" prst="rect">
            <a:avLst/>
          </a:prstGeom>
        </p:spPr>
      </p:pic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EBF3BB4-D73D-471A-BF8C-20416B84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16956" y="4810125"/>
            <a:ext cx="632460" cy="948690"/>
          </a:xfrm>
          <a:custGeom xmlns:a="http://schemas.openxmlformats.org/drawingml/2006/main">
            <a:rect l="l" t="t" r="r" b="b"/>
            <a:pathLst>
              <a:path w="632460" h="948689">
                <a:moveTo>
                  <a:pt x="316050" y="0"/>
                </a:moveTo>
                <a:lnTo>
                  <a:pt x="269347" y="3426"/>
                </a:lnTo>
                <a:lnTo>
                  <a:pt x="224771" y="13381"/>
                </a:lnTo>
                <a:lnTo>
                  <a:pt x="182811" y="29374"/>
                </a:lnTo>
                <a:lnTo>
                  <a:pt x="143957" y="50917"/>
                </a:lnTo>
                <a:lnTo>
                  <a:pt x="108698" y="77521"/>
                </a:lnTo>
                <a:lnTo>
                  <a:pt x="77521" y="108698"/>
                </a:lnTo>
                <a:lnTo>
                  <a:pt x="50917" y="143957"/>
                </a:lnTo>
                <a:lnTo>
                  <a:pt x="29374" y="182811"/>
                </a:lnTo>
                <a:lnTo>
                  <a:pt x="13381" y="224771"/>
                </a:lnTo>
                <a:lnTo>
                  <a:pt x="3426" y="269347"/>
                </a:lnTo>
                <a:lnTo>
                  <a:pt x="0" y="316050"/>
                </a:lnTo>
                <a:lnTo>
                  <a:pt x="0" y="632162"/>
                </a:lnTo>
                <a:lnTo>
                  <a:pt x="3426" y="678866"/>
                </a:lnTo>
                <a:lnTo>
                  <a:pt x="13381" y="723442"/>
                </a:lnTo>
                <a:lnTo>
                  <a:pt x="29374" y="765402"/>
                </a:lnTo>
                <a:lnTo>
                  <a:pt x="50918" y="804256"/>
                </a:lnTo>
                <a:lnTo>
                  <a:pt x="77522" y="839515"/>
                </a:lnTo>
                <a:lnTo>
                  <a:pt x="108698" y="870692"/>
                </a:lnTo>
                <a:lnTo>
                  <a:pt x="143958" y="897296"/>
                </a:lnTo>
                <a:lnTo>
                  <a:pt x="182812" y="918839"/>
                </a:lnTo>
                <a:lnTo>
                  <a:pt x="224771" y="934832"/>
                </a:lnTo>
                <a:lnTo>
                  <a:pt x="269347" y="944786"/>
                </a:lnTo>
                <a:lnTo>
                  <a:pt x="316050" y="948213"/>
                </a:lnTo>
                <a:lnTo>
                  <a:pt x="362754" y="944786"/>
                </a:lnTo>
                <a:lnTo>
                  <a:pt x="407331" y="934832"/>
                </a:lnTo>
                <a:lnTo>
                  <a:pt x="449290" y="918839"/>
                </a:lnTo>
                <a:lnTo>
                  <a:pt x="488144" y="897296"/>
                </a:lnTo>
                <a:lnTo>
                  <a:pt x="523404" y="870692"/>
                </a:lnTo>
                <a:lnTo>
                  <a:pt x="554581" y="839515"/>
                </a:lnTo>
                <a:lnTo>
                  <a:pt x="581185" y="804256"/>
                </a:lnTo>
                <a:lnTo>
                  <a:pt x="602728" y="765402"/>
                </a:lnTo>
                <a:lnTo>
                  <a:pt x="618721" y="723442"/>
                </a:lnTo>
                <a:lnTo>
                  <a:pt x="628676" y="678866"/>
                </a:lnTo>
                <a:lnTo>
                  <a:pt x="632103" y="632162"/>
                </a:lnTo>
                <a:lnTo>
                  <a:pt x="632103" y="316050"/>
                </a:lnTo>
                <a:lnTo>
                  <a:pt x="628676" y="269347"/>
                </a:lnTo>
                <a:lnTo>
                  <a:pt x="618721" y="224771"/>
                </a:lnTo>
                <a:lnTo>
                  <a:pt x="602728" y="182811"/>
                </a:lnTo>
                <a:lnTo>
                  <a:pt x="581185" y="143957"/>
                </a:lnTo>
                <a:lnTo>
                  <a:pt x="554581" y="108698"/>
                </a:lnTo>
                <a:lnTo>
                  <a:pt x="523404" y="77521"/>
                </a:lnTo>
                <a:lnTo>
                  <a:pt x="488144" y="50917"/>
                </a:lnTo>
                <a:lnTo>
                  <a:pt x="449290" y="29374"/>
                </a:lnTo>
                <a:lnTo>
                  <a:pt x="407331" y="13381"/>
                </a:lnTo>
                <a:lnTo>
                  <a:pt x="362754" y="3426"/>
                </a:lnTo>
                <a:lnTo>
                  <a:pt x="316050" y="0"/>
                </a:lnTo>
                <a:close/>
              </a:path>
            </a:pathLst>
          </a:custGeom>
          <a:solidFill xmlns:a="http://schemas.openxmlformats.org/drawingml/2006/main">
            <a:srgbClr val="F2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36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7ebfdc7304b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14480" y="5165646"/>
            <a:ext cx="237052" cy="237052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05605453-F1EA-436A-AE74-FAE04839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16956" y="5916334"/>
            <a:ext cx="632460" cy="948690"/>
          </a:xfrm>
          <a:custGeom xmlns:a="http://schemas.openxmlformats.org/drawingml/2006/main">
            <a:rect l="l" t="t" r="r" b="b"/>
            <a:pathLst>
              <a:path w="632460" h="948690">
                <a:moveTo>
                  <a:pt x="316050" y="0"/>
                </a:moveTo>
                <a:lnTo>
                  <a:pt x="269347" y="3426"/>
                </a:lnTo>
                <a:lnTo>
                  <a:pt x="224771" y="13381"/>
                </a:lnTo>
                <a:lnTo>
                  <a:pt x="182811" y="29374"/>
                </a:lnTo>
                <a:lnTo>
                  <a:pt x="143957" y="50918"/>
                </a:lnTo>
                <a:lnTo>
                  <a:pt x="108698" y="77522"/>
                </a:lnTo>
                <a:lnTo>
                  <a:pt x="77521" y="108699"/>
                </a:lnTo>
                <a:lnTo>
                  <a:pt x="50917" y="143958"/>
                </a:lnTo>
                <a:lnTo>
                  <a:pt x="29374" y="182812"/>
                </a:lnTo>
                <a:lnTo>
                  <a:pt x="13381" y="224772"/>
                </a:lnTo>
                <a:lnTo>
                  <a:pt x="3426" y="269348"/>
                </a:lnTo>
                <a:lnTo>
                  <a:pt x="0" y="316052"/>
                </a:lnTo>
                <a:lnTo>
                  <a:pt x="0" y="632164"/>
                </a:lnTo>
                <a:lnTo>
                  <a:pt x="3426" y="678867"/>
                </a:lnTo>
                <a:lnTo>
                  <a:pt x="13381" y="723443"/>
                </a:lnTo>
                <a:lnTo>
                  <a:pt x="29374" y="765403"/>
                </a:lnTo>
                <a:lnTo>
                  <a:pt x="50917" y="804257"/>
                </a:lnTo>
                <a:lnTo>
                  <a:pt x="77521" y="839516"/>
                </a:lnTo>
                <a:lnTo>
                  <a:pt x="108698" y="870693"/>
                </a:lnTo>
                <a:lnTo>
                  <a:pt x="143957" y="897297"/>
                </a:lnTo>
                <a:lnTo>
                  <a:pt x="182811" y="918840"/>
                </a:lnTo>
                <a:lnTo>
                  <a:pt x="224771" y="934833"/>
                </a:lnTo>
                <a:lnTo>
                  <a:pt x="269347" y="944788"/>
                </a:lnTo>
                <a:lnTo>
                  <a:pt x="316050" y="948215"/>
                </a:lnTo>
                <a:lnTo>
                  <a:pt x="362754" y="944788"/>
                </a:lnTo>
                <a:lnTo>
                  <a:pt x="407331" y="934833"/>
                </a:lnTo>
                <a:lnTo>
                  <a:pt x="449290" y="918840"/>
                </a:lnTo>
                <a:lnTo>
                  <a:pt x="488144" y="897297"/>
                </a:lnTo>
                <a:lnTo>
                  <a:pt x="523404" y="870693"/>
                </a:lnTo>
                <a:lnTo>
                  <a:pt x="554581" y="839516"/>
                </a:lnTo>
                <a:lnTo>
                  <a:pt x="581185" y="804257"/>
                </a:lnTo>
                <a:lnTo>
                  <a:pt x="602728" y="765403"/>
                </a:lnTo>
                <a:lnTo>
                  <a:pt x="618721" y="723443"/>
                </a:lnTo>
                <a:lnTo>
                  <a:pt x="628676" y="678867"/>
                </a:lnTo>
                <a:lnTo>
                  <a:pt x="632103" y="632164"/>
                </a:lnTo>
                <a:lnTo>
                  <a:pt x="632103" y="316052"/>
                </a:lnTo>
                <a:lnTo>
                  <a:pt x="628676" y="269348"/>
                </a:lnTo>
                <a:lnTo>
                  <a:pt x="618721" y="224772"/>
                </a:lnTo>
                <a:lnTo>
                  <a:pt x="602728" y="182812"/>
                </a:lnTo>
                <a:lnTo>
                  <a:pt x="581185" y="143958"/>
                </a:lnTo>
                <a:lnTo>
                  <a:pt x="554581" y="108699"/>
                </a:lnTo>
                <a:lnTo>
                  <a:pt x="523404" y="77522"/>
                </a:lnTo>
                <a:lnTo>
                  <a:pt x="488144" y="50918"/>
                </a:lnTo>
                <a:lnTo>
                  <a:pt x="449290" y="29374"/>
                </a:lnTo>
                <a:lnTo>
                  <a:pt x="407331" y="13381"/>
                </a:lnTo>
                <a:lnTo>
                  <a:pt x="362754" y="3426"/>
                </a:lnTo>
                <a:lnTo>
                  <a:pt x="316050" y="0"/>
                </a:lnTo>
                <a:close/>
              </a:path>
            </a:pathLst>
          </a:custGeom>
          <a:solidFill xmlns:a="http://schemas.openxmlformats.org/drawingml/2006/main">
            <a:srgbClr val="F2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38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59329bc8145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14480" y="6271855"/>
            <a:ext cx="237052" cy="237052"/>
          </a:xfrm>
          <a:prstGeom xmlns:a="http://schemas.openxmlformats.org/drawingml/2006/main" prst="rect">
            <a:avLst/>
          </a:prstGeom>
        </p:spPr>
      </p:pic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26F2A31-E4BE-4442-BFEC-F19326B6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354" y="5913240"/>
            <a:ext cx="5796915" cy="970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6845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35"/>
              </a:spcBef>
              <a:buNone/>
            </a:pP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Feature preservation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885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Stopwords, punctuation, emoji, and negation cues remain available to TF-IDF.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78482006-F32A-4C53-864F-76A367A9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56" y="7052456"/>
            <a:ext cx="7835265" cy="777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54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ct val="104200"/>
              </a:lnSpc>
              <a:spcBef>
                <a:spcPts val="20"/>
              </a:spcBef>
              <a:buNone/>
            </a:pP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 final vectorizer uses word and character punctuation tokens with unigram and bigram TF-IDF features.</a:t>
            </a:r>
            <a:endParaRPr sz="1600">
              <a:latin typeface="Segoe UI"/>
              <a:ea typeface="Segoe UI"/>
              <a:cs typeface="Segoe UI"/>
            </a:endParaR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A367869E-63FB-4126-9862-7A1643C4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9598" y="6398509"/>
            <a:ext cx="262890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Figure</a:t>
            </a:r>
            <a:r>
              <a:rPr sz="1800" spc="-35"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latin typeface="Times New Roman"/>
                <a:ea typeface="Times New Roman"/>
                <a:cs typeface="Times New Roman"/>
              </a:rPr>
              <a:t>3.</a:t>
            </a:r>
            <a:r>
              <a:rPr sz="1800" spc="-35"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latin typeface="Times New Roman"/>
                <a:ea typeface="Times New Roman"/>
                <a:cs typeface="Times New Roman"/>
              </a:rPr>
              <a:t>Dataset</a:t>
            </a:r>
            <a:r>
              <a:rPr sz="1800" spc="-35"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ea typeface="Times New Roman"/>
                <a:cs typeface="Times New Roman"/>
              </a:rPr>
              <a:t>processing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1102346"/>
      </p:ext>
    </p:extLst>
  </p:cSld>
</p:sld>
</file>

<file path=ppt/slides/slide10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B49EA33-9335-4378-A409-11752F126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0508" y="423892"/>
            <a:ext cx="3293110" cy="528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3300" spc="-10"/>
              <a:t>Feature</a:t>
            </a:r>
            <a:r>
              <a:rPr sz="3300" spc="-170"/>
              <a:t> </a:t>
            </a:r>
            <a:r>
              <a:rPr sz="3300" spc="-20"/>
              <a:t>Extraction</a:t>
            </a:r>
            <a:endParaRPr sz="3300"/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872CCDA1-DE93-4ABF-B046-7D81AF78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860" y="1176540"/>
            <a:ext cx="5134610" cy="3058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Term</a:t>
            </a:r>
            <a:r>
              <a:rPr sz="1800" spc="-5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Frequency-Inverse</a:t>
            </a:r>
            <a:r>
              <a:rPr sz="1800" spc="-5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Document</a:t>
            </a:r>
            <a:r>
              <a:rPr sz="1800" spc="-5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spc="-1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Frequency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414655">
              <a:lnSpc>
                <a:spcPct val="125000"/>
              </a:lnSpc>
              <a:spcBef>
                <a:spcPts val="2120"/>
              </a:spcBef>
              <a:buNone/>
            </a:pPr>
            <a:r>
              <a:rPr sz="1400" b="1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TF-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IDF</a:t>
            </a:r>
            <a:r>
              <a:rPr sz="1400" b="1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is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widely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used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numerical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statistic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that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reflects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how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important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word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is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document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collection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or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corpus.</a:t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5"/>
              </a:spcBef>
              <a:buNone/>
            </a:pP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55600" marR="5080" indent="-342900" algn="just">
              <a:lnSpc>
                <a:spcPct val="125000"/>
              </a:lnSpc>
              <a:buFont typeface="Segoe UI"/>
              <a:buChar char="•"/>
              <a:tabLst>
                <a:tab pos="355600" algn="l"/>
                <a:tab pos="358140" algn="l"/>
              </a:tabLst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Converts</a:t>
            </a:r>
            <a:r>
              <a:rPr sz="1400" b="1" spc="9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</a:t>
            </a:r>
            <a:r>
              <a:rPr sz="1400" b="1" spc="1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00" b="1" spc="1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vectors:</a:t>
            </a:r>
            <a:r>
              <a:rPr sz="1400" b="1" spc="114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Transforms</a:t>
            </a:r>
            <a:r>
              <a:rPr sz="1400" spc="1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raw</a:t>
            </a:r>
            <a:r>
              <a:rPr sz="1400" spc="9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textual</a:t>
            </a:r>
            <a:r>
              <a:rPr sz="1400" spc="1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1400" spc="1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into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00" spc="3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numerical</a:t>
            </a:r>
            <a:r>
              <a:rPr sz="1400" spc="3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format</a:t>
            </a:r>
            <a:r>
              <a:rPr sz="1400" spc="3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that</a:t>
            </a:r>
            <a:r>
              <a:rPr sz="1400" spc="3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machine</a:t>
            </a:r>
            <a:r>
              <a:rPr sz="1400" spc="3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learning</a:t>
            </a:r>
            <a:r>
              <a:rPr sz="1400" spc="3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algorithms</a:t>
            </a:r>
            <a:r>
              <a:rPr sz="1400" spc="3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can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process.</a:t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55600" marR="5080" indent="-342900" algn="just">
              <a:lnSpc>
                <a:spcPct val="125000"/>
              </a:lnSpc>
              <a:spcBef>
                <a:spcPts val="925"/>
              </a:spcBef>
              <a:buFont typeface="Segoe UI"/>
              <a:buChar char="•"/>
              <a:tabLst>
                <a:tab pos="355600" algn="l"/>
                <a:tab pos="358140" algn="l"/>
              </a:tabLst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Weights</a:t>
            </a:r>
            <a:r>
              <a:rPr sz="1400" b="1" spc="8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important</a:t>
            </a:r>
            <a:r>
              <a:rPr sz="1400" b="1" spc="9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words:</a:t>
            </a:r>
            <a:r>
              <a:rPr sz="1400" b="1" spc="1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Assigns</a:t>
            </a:r>
            <a:r>
              <a:rPr sz="1400" spc="8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higher</a:t>
            </a:r>
            <a:r>
              <a:rPr sz="1400" spc="9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values</a:t>
            </a:r>
            <a:r>
              <a:rPr sz="1400" spc="9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00" spc="9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words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that</a:t>
            </a:r>
            <a:r>
              <a:rPr sz="140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are</a:t>
            </a:r>
            <a:r>
              <a:rPr sz="140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more</a:t>
            </a:r>
            <a:r>
              <a:rPr sz="140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relevant</a:t>
            </a:r>
            <a:r>
              <a:rPr sz="140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within</a:t>
            </a:r>
            <a:r>
              <a:rPr sz="140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0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document</a:t>
            </a:r>
            <a:r>
              <a:rPr sz="140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40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less</a:t>
            </a:r>
            <a:r>
              <a:rPr sz="140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common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across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entire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dataset.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C611506F-C0E8-426C-A7BA-BBD01A85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860" y="4375708"/>
            <a:ext cx="5147310" cy="82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marR="5080" indent="-342900" algn="just">
              <a:lnSpc>
                <a:spcPct val="125000"/>
              </a:lnSpc>
              <a:spcBef>
                <a:spcPts val="100"/>
              </a:spcBef>
              <a:buFont typeface="Segoe UI"/>
              <a:buChar char="•"/>
              <a:tabLst>
                <a:tab pos="355600" algn="l"/>
                <a:tab pos="358140" algn="l"/>
              </a:tabLst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Reduces</a:t>
            </a:r>
            <a:r>
              <a:rPr sz="1400" b="1" spc="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common</a:t>
            </a:r>
            <a:r>
              <a:rPr sz="1400" b="1" spc="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word</a:t>
            </a:r>
            <a:r>
              <a:rPr sz="1400" b="1" spc="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impact:</a:t>
            </a:r>
            <a:r>
              <a:rPr sz="1400" b="1" spc="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Minimizes</a:t>
            </a:r>
            <a:r>
              <a:rPr sz="1400" spc="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400" spc="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influence</a:t>
            </a:r>
            <a:r>
              <a:rPr sz="1400" spc="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frequently</a:t>
            </a:r>
            <a:r>
              <a:rPr sz="1400" spc="17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occurring</a:t>
            </a:r>
            <a:r>
              <a:rPr sz="1400" spc="17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but</a:t>
            </a:r>
            <a:r>
              <a:rPr sz="1400" spc="17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semantically</a:t>
            </a:r>
            <a:r>
              <a:rPr sz="1400" spc="1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less</a:t>
            </a:r>
            <a:r>
              <a:rPr sz="1400" spc="17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significant</a:t>
            </a:r>
            <a:r>
              <a:rPr sz="1400" spc="17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words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(like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"a,"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"and,"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"the").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C966D085-8022-4F51-97B3-9B93302B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860" y="5475023"/>
            <a:ext cx="9606915" cy="1883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marR="4476750" indent="-342900" algn="just">
              <a:lnSpc>
                <a:spcPct val="125000"/>
              </a:lnSpc>
              <a:spcBef>
                <a:spcPts val="100"/>
              </a:spcBef>
              <a:buFont typeface="Segoe UI"/>
              <a:buChar char="•"/>
              <a:tabLst>
                <a:tab pos="355600" algn="l"/>
                <a:tab pos="358140" algn="l"/>
              </a:tabLst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Suitable</a:t>
            </a:r>
            <a:r>
              <a:rPr sz="1400" b="1" spc="2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400" b="1" spc="2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ML</a:t>
            </a:r>
            <a:r>
              <a:rPr sz="1400" b="1" spc="2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algorithms:</a:t>
            </a:r>
            <a:r>
              <a:rPr sz="1400" b="1" spc="27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Provides</a:t>
            </a:r>
            <a:r>
              <a:rPr sz="1400" spc="254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00" spc="254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robust</a:t>
            </a:r>
            <a:r>
              <a:rPr sz="1400" spc="254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numerical representation,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making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it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ideal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choice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various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machine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learning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models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[6].</a:t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400"/>
              </a:spcBef>
              <a:buNone/>
            </a:pP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09400"/>
              </a:lnSpc>
              <a:buNone/>
            </a:pP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By</a:t>
            </a:r>
            <a:r>
              <a:rPr sz="1600" spc="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creating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powerful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numerical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representation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text,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TF-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IDF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plays</a:t>
            </a:r>
            <a:r>
              <a:rPr sz="1600" spc="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crucial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role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enabling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classifiers</a:t>
            </a:r>
            <a:r>
              <a:rPr sz="1600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effectively understand and analyze </a:t>
            </a:r>
            <a:r>
              <a:rPr sz="16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sentiment.</a:t>
            </a:r>
            <a:endParaRPr sz="1600">
              <a:latin typeface="Segoe UI"/>
              <a:ea typeface="Segoe UI"/>
              <a:cs typeface="Segoe UI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1A0FD2F-1353-4D8F-8F44-21ABD69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858" y="4837092"/>
            <a:ext cx="260286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Figure</a:t>
            </a:r>
            <a:r>
              <a:rPr sz="1800" spc="-35"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latin typeface="Times New Roman"/>
                <a:ea typeface="Times New Roman"/>
                <a:cs typeface="Times New Roman"/>
              </a:rPr>
              <a:t>4.</a:t>
            </a:r>
            <a:r>
              <a:rPr sz="1800" spc="-35">
                <a:latin typeface="Times New Roman"/>
                <a:ea typeface="Times New Roman"/>
                <a:cs typeface="Times New Roman"/>
              </a:rPr>
              <a:t> </a:t>
            </a:r>
            <a:r>
              <a:rPr sz="1800">
                <a:latin typeface="Times New Roman"/>
                <a:ea typeface="Times New Roman"/>
                <a:cs typeface="Times New Roman"/>
              </a:rPr>
              <a:t>Feature</a:t>
            </a:r>
            <a:r>
              <a:rPr sz="1800" spc="-35">
                <a:latin typeface="Times New Roman"/>
                <a:ea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ea typeface="Times New Roman"/>
                <a:cs typeface="Times New Roman"/>
              </a:rPr>
              <a:t>Extraction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02115"/>
      </p:ext>
    </p:extLst>
  </p:cSld>
</p:sld>
</file>

<file path=ppt/slides/slide1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EDC3D06-9766-4490-ABCC-4CCC9AB88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2819" y="561415"/>
            <a:ext cx="11099165" cy="589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3700"/>
              <a:t>Machine</a:t>
            </a:r>
            <a:r>
              <a:rPr sz="3700" spc="-135"/>
              <a:t> </a:t>
            </a:r>
            <a:r>
              <a:rPr sz="3700"/>
              <a:t>Learning</a:t>
            </a:r>
            <a:r>
              <a:rPr sz="3700" spc="-135"/>
              <a:t> </a:t>
            </a:r>
            <a:r>
              <a:rPr sz="3700"/>
              <a:t>Models</a:t>
            </a:r>
            <a:r>
              <a:rPr sz="3700" spc="-130"/>
              <a:t> </a:t>
            </a:r>
            <a:r>
              <a:rPr sz="3700"/>
              <a:t>for</a:t>
            </a:r>
            <a:r>
              <a:rPr sz="3700" spc="-135"/>
              <a:t> </a:t>
            </a:r>
            <a:r>
              <a:rPr sz="3700"/>
              <a:t>Sentiment</a:t>
            </a:r>
            <a:r>
              <a:rPr sz="3700" spc="-130"/>
              <a:t> </a:t>
            </a:r>
            <a:r>
              <a:rPr sz="3700" spc="-10"/>
              <a:t>Classification</a:t>
            </a:r>
            <a:endParaRPr sz="3700"/>
          </a:p>
        </p:txBody>
      </p:sp>
      <p:pic>
        <p:nvPicPr>
          <p:cNvPr id="17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3370e92a14f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42823" y="2440899"/>
            <a:ext cx="256937" cy="256937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BC70A3E9-8295-467F-9F1D-EEC62665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14" y="1703718"/>
            <a:ext cx="1475105" cy="360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2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Naive</a:t>
            </a:r>
            <a:r>
              <a:rPr sz="2200" spc="-1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Bayes</a:t>
            </a:r>
            <a:endParaRPr sz="2200">
              <a:latin typeface="Segoe UI"/>
              <a:ea typeface="Segoe UI"/>
              <a:cs typeface="Segoe UI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CA81044A-310D-4F15-8668-7DA453B3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14" y="2234234"/>
            <a:ext cx="5582285" cy="6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marR="5080" indent="-342900">
              <a:lnSpc>
                <a:spcPct val="137900"/>
              </a:lnSpc>
              <a:spcBef>
                <a:spcPts val="100"/>
              </a:spcBef>
              <a:buFont typeface="Segoe UI"/>
              <a:buChar char="•"/>
              <a:tabLst>
                <a:tab pos="355600" algn="l"/>
              </a:tabLst>
            </a:pP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Probabilistic</a:t>
            </a:r>
            <a:r>
              <a:rPr sz="1450" b="1" spc="1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Classifier:</a:t>
            </a:r>
            <a:r>
              <a:rPr sz="1450" b="1" spc="1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Based</a:t>
            </a:r>
            <a:r>
              <a:rPr sz="1450" spc="1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on</a:t>
            </a:r>
            <a:r>
              <a:rPr sz="1450" spc="1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Bayes'</a:t>
            </a:r>
            <a:r>
              <a:rPr sz="1450" spc="1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theorem,</a:t>
            </a:r>
            <a:r>
              <a:rPr sz="1450" spc="1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it</a:t>
            </a:r>
            <a:r>
              <a:rPr sz="1450" spc="1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calculates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probability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belonging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5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certain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class.</a:t>
            </a:r>
            <a:endParaRPr sz="1450">
              <a:latin typeface="Segoe UI"/>
              <a:ea typeface="Segoe UI"/>
              <a:cs typeface="Segoe UI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CD7F5941-165B-470C-9847-123C79F1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14" y="3492772"/>
            <a:ext cx="5582285" cy="6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marR="5080" indent="-342900">
              <a:lnSpc>
                <a:spcPct val="137900"/>
              </a:lnSpc>
              <a:spcBef>
                <a:spcPts val="100"/>
              </a:spcBef>
              <a:buFont typeface="Segoe UI"/>
              <a:buChar char="•"/>
              <a:tabLst>
                <a:tab pos="355600" algn="l"/>
              </a:tabLst>
            </a:pP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Fast</a:t>
            </a:r>
            <a:r>
              <a:rPr sz="1450" b="1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&amp; Simple:</a:t>
            </a:r>
            <a:r>
              <a:rPr sz="1450" b="1" spc="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Known for its</a:t>
            </a:r>
            <a:r>
              <a:rPr sz="145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computational efficiency and 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ease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implementation.</a:t>
            </a:r>
            <a:endParaRPr sz="1450">
              <a:latin typeface="Segoe UI"/>
              <a:ea typeface="Segoe UI"/>
              <a:cs typeface="Segoe UI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93B0261-1C23-4709-94EA-0D96B9C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13" y="4446398"/>
            <a:ext cx="5569585" cy="93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marR="5080" indent="-342900" algn="just">
              <a:lnSpc>
                <a:spcPct val="137900"/>
              </a:lnSpc>
              <a:spcBef>
                <a:spcPts val="100"/>
              </a:spcBef>
              <a:buFont typeface="Segoe UI"/>
              <a:buChar char="•"/>
              <a:tabLst>
                <a:tab pos="355600" algn="l"/>
                <a:tab pos="356870" algn="l"/>
              </a:tabLst>
            </a:pP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Assumes</a:t>
            </a:r>
            <a:r>
              <a:rPr sz="1450" b="1" spc="1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Word</a:t>
            </a:r>
            <a:r>
              <a:rPr sz="1450" b="1" spc="1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Independence:</a:t>
            </a:r>
            <a:r>
              <a:rPr sz="1450" b="1" spc="114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50" spc="1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simplifying</a:t>
            </a:r>
            <a:r>
              <a:rPr sz="1450" spc="1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assumption</a:t>
            </a:r>
            <a:r>
              <a:rPr sz="1450" spc="1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that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features</a:t>
            </a:r>
            <a:r>
              <a:rPr sz="145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(words)</a:t>
            </a:r>
            <a:r>
              <a:rPr sz="1450" spc="6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are</a:t>
            </a:r>
            <a:r>
              <a:rPr sz="145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independent</a:t>
            </a:r>
            <a:r>
              <a:rPr sz="1450" spc="6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45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each</a:t>
            </a:r>
            <a:r>
              <a:rPr sz="1450" spc="6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other</a:t>
            </a:r>
            <a:r>
              <a:rPr sz="145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given</a:t>
            </a:r>
            <a:r>
              <a:rPr sz="1450" spc="6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450" spc="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class,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which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often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works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well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practice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classification.</a:t>
            </a:r>
            <a:endParaRPr sz="1450">
              <a:latin typeface="Segoe UI"/>
              <a:ea typeface="Segoe UI"/>
              <a:cs typeface="Segoe UI"/>
            </a:endParaRPr>
          </a:p>
        </p:txBody>
      </p:sp>
      <p:pic>
        <p:nvPicPr>
          <p:cNvPr id="22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271a512c641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7517" y="2440899"/>
            <a:ext cx="256937" cy="256937"/>
          </a:xfrm>
          <a:prstGeom xmlns:a="http://schemas.openxmlformats.org/drawingml/2006/main" prst="rect">
            <a:avLst/>
          </a:prstGeom>
        </p:spPr>
      </p:pic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C4CAA16B-7476-4969-BB04-0E9065B7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774" y="1703718"/>
            <a:ext cx="3827779" cy="360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2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Support</a:t>
            </a:r>
            <a:r>
              <a:rPr sz="2200" spc="-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Vector</a:t>
            </a:r>
            <a:r>
              <a:rPr sz="2200" spc="-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Machine</a:t>
            </a:r>
            <a:r>
              <a:rPr sz="2200" spc="-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2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(SVM)</a:t>
            </a:r>
            <a:endParaRPr sz="2200">
              <a:latin typeface="Segoe UI"/>
              <a:ea typeface="Segoe UI"/>
              <a:cs typeface="Segoe UI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60AC2A3D-C71C-47DF-A417-52070EA8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774" y="2240298"/>
            <a:ext cx="5569585" cy="93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marR="5080" indent="-342900" algn="just">
              <a:lnSpc>
                <a:spcPct val="137900"/>
              </a:lnSpc>
              <a:spcBef>
                <a:spcPts val="100"/>
              </a:spcBef>
              <a:buFont typeface="Segoe UI"/>
              <a:buChar char="•"/>
              <a:tabLst>
                <a:tab pos="355600" algn="l"/>
                <a:tab pos="356870" algn="l"/>
              </a:tabLst>
            </a:pP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Finds</a:t>
            </a:r>
            <a:r>
              <a:rPr sz="1450" b="1" spc="1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Optimal</a:t>
            </a:r>
            <a:r>
              <a:rPr sz="1450" b="1" spc="1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Hyperplane:</a:t>
            </a:r>
            <a:r>
              <a:rPr sz="1450" b="1" spc="1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Constructs</a:t>
            </a:r>
            <a:r>
              <a:rPr sz="1450" spc="1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50" spc="1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hyperplane</a:t>
            </a:r>
            <a:r>
              <a:rPr sz="1450" spc="1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or</a:t>
            </a:r>
            <a:r>
              <a:rPr sz="1450" spc="1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set</a:t>
            </a:r>
            <a:r>
              <a:rPr sz="1450" spc="1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hyperplanes</a:t>
            </a:r>
            <a:r>
              <a:rPr sz="1450" spc="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450" spc="8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50" spc="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high-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dimensional</a:t>
            </a:r>
            <a:r>
              <a:rPr sz="1450" spc="8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space</a:t>
            </a:r>
            <a:r>
              <a:rPr sz="1450" spc="8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50" spc="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separate</a:t>
            </a:r>
            <a:r>
              <a:rPr sz="1450" spc="8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points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into</a:t>
            </a:r>
            <a:r>
              <a:rPr sz="145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different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classes</a:t>
            </a:r>
            <a:r>
              <a:rPr sz="145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with</a:t>
            </a:r>
            <a:r>
              <a:rPr sz="145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largest</a:t>
            </a:r>
            <a:r>
              <a:rPr sz="145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margin.</a:t>
            </a:r>
            <a:endParaRPr sz="1450">
              <a:latin typeface="Segoe UI"/>
              <a:ea typeface="Segoe UI"/>
              <a:cs typeface="Segoe UI"/>
            </a:endParaR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F6F26B8C-46DC-45D9-9A3F-4029C32C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774" y="3491041"/>
            <a:ext cx="5569585" cy="93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marR="5080" indent="-342900" algn="just">
              <a:lnSpc>
                <a:spcPct val="137900"/>
              </a:lnSpc>
              <a:spcBef>
                <a:spcPts val="100"/>
              </a:spcBef>
              <a:buFont typeface="Segoe UI"/>
              <a:buChar char="•"/>
              <a:tabLst>
                <a:tab pos="355600" algn="l"/>
                <a:tab pos="356870" algn="l"/>
              </a:tabLst>
            </a:pP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Works</a:t>
            </a:r>
            <a:r>
              <a:rPr sz="1450" b="1" spc="36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Well</a:t>
            </a:r>
            <a:r>
              <a:rPr sz="1450" b="1" spc="37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with</a:t>
            </a:r>
            <a:r>
              <a:rPr sz="1450" b="1" spc="36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 b="1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High-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Dimensional</a:t>
            </a:r>
            <a:r>
              <a:rPr sz="1450" b="1" spc="37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Text:</a:t>
            </a:r>
            <a:r>
              <a:rPr sz="1450" b="1" spc="36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Particularly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effective</a:t>
            </a:r>
            <a:r>
              <a:rPr sz="1450" spc="3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450" spc="3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scenarios</a:t>
            </a:r>
            <a:r>
              <a:rPr sz="1450" spc="3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with</a:t>
            </a:r>
            <a:r>
              <a:rPr sz="1450" spc="3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450" spc="3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large</a:t>
            </a:r>
            <a:r>
              <a:rPr sz="1450" spc="3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number</a:t>
            </a:r>
            <a:r>
              <a:rPr sz="1450" spc="3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450" spc="3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features,</a:t>
            </a:r>
            <a:r>
              <a:rPr sz="1450" spc="3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as</a:t>
            </a:r>
            <a:r>
              <a:rPr sz="1450" spc="35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is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common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45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text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145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[7].</a:t>
            </a:r>
            <a:endParaRPr sz="1450">
              <a:latin typeface="Segoe UI"/>
              <a:ea typeface="Segoe UI"/>
              <a:cs typeface="Segoe UI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D42D15CB-A68E-48BF-8BA9-56DE5DA2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774" y="4564043"/>
            <a:ext cx="5582285" cy="6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marR="5080" indent="-342900">
              <a:lnSpc>
                <a:spcPct val="137900"/>
              </a:lnSpc>
              <a:spcBef>
                <a:spcPts val="100"/>
              </a:spcBef>
              <a:buFont typeface="Segoe UI"/>
              <a:buChar char="•"/>
              <a:tabLst>
                <a:tab pos="355600" algn="l"/>
              </a:tabLst>
            </a:pP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Better</a:t>
            </a:r>
            <a:r>
              <a:rPr sz="1450" b="1" spc="2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Generalization:</a:t>
            </a:r>
            <a:r>
              <a:rPr sz="1450" b="1" spc="2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Often</a:t>
            </a:r>
            <a:r>
              <a:rPr sz="1450" spc="2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provides</a:t>
            </a:r>
            <a:r>
              <a:rPr sz="1450" spc="2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superior</a:t>
            </a:r>
            <a:r>
              <a:rPr sz="1450" spc="2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generalization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performance,</a:t>
            </a:r>
            <a:r>
              <a:rPr sz="14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meaning</a:t>
            </a:r>
            <a:r>
              <a:rPr sz="14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it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performs</a:t>
            </a:r>
            <a:r>
              <a:rPr sz="14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well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on</a:t>
            </a:r>
            <a:r>
              <a:rPr sz="14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unseen</a:t>
            </a:r>
            <a:r>
              <a:rPr sz="14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data.</a:t>
            </a:r>
            <a:endParaRPr sz="1450">
              <a:latin typeface="Segoe UI"/>
              <a:ea typeface="Segoe UI"/>
              <a:cs typeface="Segoe UI"/>
            </a:endParaRP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A0B722A4-C815-464E-9E8F-56D07E29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14" y="6018277"/>
            <a:ext cx="12065000" cy="6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25000"/>
              </a:lnSpc>
              <a:spcBef>
                <a:spcPts val="100"/>
              </a:spcBef>
              <a:buNone/>
            </a:pP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Both models use the same TF-IDF features and cleaned training texts. Linear SVM ranks first on validation macro-F1.</a:t>
            </a:r>
            <a:endParaRPr sz="160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92825666"/>
      </p:ext>
    </p:extLst>
  </p:cSld>
</p:sld>
</file>

<file path=ppt/slides/slide1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57963E0-47A0-4680-83EF-D2B88F0C25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4059" y="630970"/>
            <a:ext cx="4265930" cy="665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200" spc="-20"/>
              <a:t>Evaluation</a:t>
            </a:r>
            <a:r>
              <a:rPr sz="4200" spc="-204"/>
              <a:t> </a:t>
            </a:r>
            <a:r>
              <a:rPr sz="4200" spc="-10"/>
              <a:t>Metrics</a:t>
            </a:r>
            <a:endParaRPr sz="4200"/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9D779446-8F5A-4F55-86B7-A5ED8450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681403"/>
            <a:ext cx="4236720" cy="640080"/>
          </a:xfrm>
          <a:custGeom xmlns:a="http://schemas.openxmlformats.org/drawingml/2006/main">
            <a:rect l="l" t="t" r="r" b="b"/>
            <a:pathLst>
              <a:path w="4236720" h="640080">
                <a:moveTo>
                  <a:pt x="4236720" y="321576"/>
                </a:moveTo>
                <a:lnTo>
                  <a:pt x="4234192" y="309118"/>
                </a:lnTo>
                <a:lnTo>
                  <a:pt x="4227334" y="298932"/>
                </a:lnTo>
                <a:lnTo>
                  <a:pt x="4217162" y="292074"/>
                </a:lnTo>
                <a:lnTo>
                  <a:pt x="4204703" y="289560"/>
                </a:lnTo>
                <a:lnTo>
                  <a:pt x="2436152" y="289560"/>
                </a:lnTo>
                <a:lnTo>
                  <a:pt x="2434920" y="272745"/>
                </a:lnTo>
                <a:lnTo>
                  <a:pt x="2424849" y="227609"/>
                </a:lnTo>
                <a:lnTo>
                  <a:pt x="2408644" y="185127"/>
                </a:lnTo>
                <a:lnTo>
                  <a:pt x="2386838" y="145783"/>
                </a:lnTo>
                <a:lnTo>
                  <a:pt x="2359888" y="110070"/>
                </a:lnTo>
                <a:lnTo>
                  <a:pt x="2328329" y="78498"/>
                </a:lnTo>
                <a:lnTo>
                  <a:pt x="2292616" y="51562"/>
                </a:lnTo>
                <a:lnTo>
                  <a:pt x="2253272" y="29743"/>
                </a:lnTo>
                <a:lnTo>
                  <a:pt x="2210790" y="13550"/>
                </a:lnTo>
                <a:lnTo>
                  <a:pt x="2165642" y="3479"/>
                </a:lnTo>
                <a:lnTo>
                  <a:pt x="2118360" y="0"/>
                </a:lnTo>
                <a:lnTo>
                  <a:pt x="2071065" y="3479"/>
                </a:lnTo>
                <a:lnTo>
                  <a:pt x="2025916" y="13550"/>
                </a:lnTo>
                <a:lnTo>
                  <a:pt x="1983435" y="29743"/>
                </a:lnTo>
                <a:lnTo>
                  <a:pt x="1944090" y="51562"/>
                </a:lnTo>
                <a:lnTo>
                  <a:pt x="1908378" y="78498"/>
                </a:lnTo>
                <a:lnTo>
                  <a:pt x="1876818" y="110070"/>
                </a:lnTo>
                <a:lnTo>
                  <a:pt x="1849869" y="145783"/>
                </a:lnTo>
                <a:lnTo>
                  <a:pt x="1828063" y="185127"/>
                </a:lnTo>
                <a:lnTo>
                  <a:pt x="1811858" y="227609"/>
                </a:lnTo>
                <a:lnTo>
                  <a:pt x="1801787" y="272745"/>
                </a:lnTo>
                <a:lnTo>
                  <a:pt x="1800542" y="289560"/>
                </a:lnTo>
                <a:lnTo>
                  <a:pt x="32004" y="289560"/>
                </a:lnTo>
                <a:lnTo>
                  <a:pt x="19545" y="292074"/>
                </a:lnTo>
                <a:lnTo>
                  <a:pt x="9372" y="298932"/>
                </a:lnTo>
                <a:lnTo>
                  <a:pt x="2514" y="309118"/>
                </a:lnTo>
                <a:lnTo>
                  <a:pt x="0" y="321576"/>
                </a:lnTo>
                <a:lnTo>
                  <a:pt x="0" y="379476"/>
                </a:lnTo>
                <a:lnTo>
                  <a:pt x="2514" y="391934"/>
                </a:lnTo>
                <a:lnTo>
                  <a:pt x="9372" y="402107"/>
                </a:lnTo>
                <a:lnTo>
                  <a:pt x="19545" y="408965"/>
                </a:lnTo>
                <a:lnTo>
                  <a:pt x="32004" y="411480"/>
                </a:lnTo>
                <a:lnTo>
                  <a:pt x="1811629" y="411480"/>
                </a:lnTo>
                <a:lnTo>
                  <a:pt x="1811858" y="412470"/>
                </a:lnTo>
                <a:lnTo>
                  <a:pt x="1828063" y="454964"/>
                </a:lnTo>
                <a:lnTo>
                  <a:pt x="1849869" y="494309"/>
                </a:lnTo>
                <a:lnTo>
                  <a:pt x="1876818" y="530009"/>
                </a:lnTo>
                <a:lnTo>
                  <a:pt x="1908378" y="561581"/>
                </a:lnTo>
                <a:lnTo>
                  <a:pt x="1944090" y="588518"/>
                </a:lnTo>
                <a:lnTo>
                  <a:pt x="1983435" y="610336"/>
                </a:lnTo>
                <a:lnTo>
                  <a:pt x="2025916" y="626529"/>
                </a:lnTo>
                <a:lnTo>
                  <a:pt x="2071065" y="636612"/>
                </a:lnTo>
                <a:lnTo>
                  <a:pt x="2118360" y="640080"/>
                </a:lnTo>
                <a:lnTo>
                  <a:pt x="2165642" y="636612"/>
                </a:lnTo>
                <a:lnTo>
                  <a:pt x="2210790" y="626529"/>
                </a:lnTo>
                <a:lnTo>
                  <a:pt x="2253272" y="610336"/>
                </a:lnTo>
                <a:lnTo>
                  <a:pt x="2292616" y="588518"/>
                </a:lnTo>
                <a:lnTo>
                  <a:pt x="2328329" y="561581"/>
                </a:lnTo>
                <a:lnTo>
                  <a:pt x="2359888" y="530009"/>
                </a:lnTo>
                <a:lnTo>
                  <a:pt x="2386838" y="494309"/>
                </a:lnTo>
                <a:lnTo>
                  <a:pt x="2408644" y="454964"/>
                </a:lnTo>
                <a:lnTo>
                  <a:pt x="2424849" y="412470"/>
                </a:lnTo>
                <a:lnTo>
                  <a:pt x="2425065" y="411480"/>
                </a:lnTo>
                <a:lnTo>
                  <a:pt x="4204703" y="411480"/>
                </a:lnTo>
                <a:lnTo>
                  <a:pt x="4217162" y="408965"/>
                </a:lnTo>
                <a:lnTo>
                  <a:pt x="4227334" y="402107"/>
                </a:lnTo>
                <a:lnTo>
                  <a:pt x="4234192" y="391934"/>
                </a:lnTo>
                <a:lnTo>
                  <a:pt x="4236720" y="379476"/>
                </a:lnTo>
                <a:lnTo>
                  <a:pt x="4236720" y="321576"/>
                </a:lnTo>
                <a:close/>
              </a:path>
            </a:pathLst>
          </a:custGeom>
          <a:solidFill xmlns:a="http://schemas.openxmlformats.org/drawingml/2006/main">
            <a:srgbClr val="1C977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D30AFC40-09CD-4D6E-BF98-8D581BCF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334" y="1894244"/>
            <a:ext cx="162560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spc="-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2000">
              <a:latin typeface="Segoe UI"/>
              <a:ea typeface="Segoe UI"/>
              <a:cs typeface="Segoe UI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F0CC88F-BF94-416F-AB96-861CF09E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550010"/>
            <a:ext cx="3644900" cy="11099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1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Accuracy</a:t>
            </a:r>
            <a:endParaRPr sz="21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1300"/>
              </a:lnSpc>
              <a:spcBef>
                <a:spcPts val="815"/>
              </a:spcBef>
              <a:buNone/>
            </a:pP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Measures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6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overall</a:t>
            </a:r>
            <a:r>
              <a:rPr sz="16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correctness</a:t>
            </a:r>
            <a:r>
              <a:rPr sz="16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6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model's</a:t>
            </a:r>
            <a:r>
              <a:rPr sz="165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predictions</a:t>
            </a:r>
            <a:r>
              <a:rPr sz="16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across</a:t>
            </a:r>
            <a:r>
              <a:rPr sz="16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all</a:t>
            </a:r>
            <a:r>
              <a:rPr sz="16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classes.</a:t>
            </a:r>
            <a:endParaRPr sz="1650">
              <a:latin typeface="Segoe UI"/>
              <a:ea typeface="Segoe UI"/>
              <a:cs typeface="Segoe UI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C60F02E-E5E8-4B5D-8594-C9DF35F3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1681403"/>
            <a:ext cx="4236720" cy="640080"/>
          </a:xfrm>
          <a:custGeom xmlns:a="http://schemas.openxmlformats.org/drawingml/2006/main">
            <a:rect l="l" t="t" r="r" b="b"/>
            <a:pathLst>
              <a:path w="4236720" h="640080">
                <a:moveTo>
                  <a:pt x="4236720" y="321576"/>
                </a:moveTo>
                <a:lnTo>
                  <a:pt x="4234192" y="309118"/>
                </a:lnTo>
                <a:lnTo>
                  <a:pt x="4227334" y="298932"/>
                </a:lnTo>
                <a:lnTo>
                  <a:pt x="4217162" y="292074"/>
                </a:lnTo>
                <a:lnTo>
                  <a:pt x="4204703" y="289560"/>
                </a:lnTo>
                <a:lnTo>
                  <a:pt x="2436152" y="289560"/>
                </a:lnTo>
                <a:lnTo>
                  <a:pt x="2434920" y="272745"/>
                </a:lnTo>
                <a:lnTo>
                  <a:pt x="2424849" y="227609"/>
                </a:lnTo>
                <a:lnTo>
                  <a:pt x="2408644" y="185127"/>
                </a:lnTo>
                <a:lnTo>
                  <a:pt x="2386838" y="145783"/>
                </a:lnTo>
                <a:lnTo>
                  <a:pt x="2359888" y="110070"/>
                </a:lnTo>
                <a:lnTo>
                  <a:pt x="2328329" y="78498"/>
                </a:lnTo>
                <a:lnTo>
                  <a:pt x="2292616" y="51562"/>
                </a:lnTo>
                <a:lnTo>
                  <a:pt x="2253272" y="29743"/>
                </a:lnTo>
                <a:lnTo>
                  <a:pt x="2210790" y="13550"/>
                </a:lnTo>
                <a:lnTo>
                  <a:pt x="2165642" y="3479"/>
                </a:lnTo>
                <a:lnTo>
                  <a:pt x="2118360" y="0"/>
                </a:lnTo>
                <a:lnTo>
                  <a:pt x="2071065" y="3479"/>
                </a:lnTo>
                <a:lnTo>
                  <a:pt x="2025916" y="13550"/>
                </a:lnTo>
                <a:lnTo>
                  <a:pt x="1983435" y="29743"/>
                </a:lnTo>
                <a:lnTo>
                  <a:pt x="1944090" y="51562"/>
                </a:lnTo>
                <a:lnTo>
                  <a:pt x="1908378" y="78498"/>
                </a:lnTo>
                <a:lnTo>
                  <a:pt x="1876818" y="110070"/>
                </a:lnTo>
                <a:lnTo>
                  <a:pt x="1849869" y="145783"/>
                </a:lnTo>
                <a:lnTo>
                  <a:pt x="1828063" y="185127"/>
                </a:lnTo>
                <a:lnTo>
                  <a:pt x="1811858" y="227609"/>
                </a:lnTo>
                <a:lnTo>
                  <a:pt x="1801787" y="272745"/>
                </a:lnTo>
                <a:lnTo>
                  <a:pt x="1800542" y="289560"/>
                </a:lnTo>
                <a:lnTo>
                  <a:pt x="32004" y="289560"/>
                </a:lnTo>
                <a:lnTo>
                  <a:pt x="19545" y="292074"/>
                </a:lnTo>
                <a:lnTo>
                  <a:pt x="9372" y="298932"/>
                </a:lnTo>
                <a:lnTo>
                  <a:pt x="2514" y="309118"/>
                </a:lnTo>
                <a:lnTo>
                  <a:pt x="0" y="321576"/>
                </a:lnTo>
                <a:lnTo>
                  <a:pt x="0" y="379476"/>
                </a:lnTo>
                <a:lnTo>
                  <a:pt x="2514" y="391934"/>
                </a:lnTo>
                <a:lnTo>
                  <a:pt x="9372" y="402107"/>
                </a:lnTo>
                <a:lnTo>
                  <a:pt x="19545" y="408965"/>
                </a:lnTo>
                <a:lnTo>
                  <a:pt x="32004" y="411480"/>
                </a:lnTo>
                <a:lnTo>
                  <a:pt x="1811629" y="411480"/>
                </a:lnTo>
                <a:lnTo>
                  <a:pt x="1811858" y="412470"/>
                </a:lnTo>
                <a:lnTo>
                  <a:pt x="1828063" y="454964"/>
                </a:lnTo>
                <a:lnTo>
                  <a:pt x="1849869" y="494309"/>
                </a:lnTo>
                <a:lnTo>
                  <a:pt x="1876818" y="530009"/>
                </a:lnTo>
                <a:lnTo>
                  <a:pt x="1908378" y="561581"/>
                </a:lnTo>
                <a:lnTo>
                  <a:pt x="1944090" y="588518"/>
                </a:lnTo>
                <a:lnTo>
                  <a:pt x="1983435" y="610336"/>
                </a:lnTo>
                <a:lnTo>
                  <a:pt x="2025916" y="626529"/>
                </a:lnTo>
                <a:lnTo>
                  <a:pt x="2071065" y="636612"/>
                </a:lnTo>
                <a:lnTo>
                  <a:pt x="2118360" y="640080"/>
                </a:lnTo>
                <a:lnTo>
                  <a:pt x="2165642" y="636612"/>
                </a:lnTo>
                <a:lnTo>
                  <a:pt x="2210790" y="626529"/>
                </a:lnTo>
                <a:lnTo>
                  <a:pt x="2253272" y="610336"/>
                </a:lnTo>
                <a:lnTo>
                  <a:pt x="2292616" y="588518"/>
                </a:lnTo>
                <a:lnTo>
                  <a:pt x="2328329" y="561581"/>
                </a:lnTo>
                <a:lnTo>
                  <a:pt x="2359888" y="530009"/>
                </a:lnTo>
                <a:lnTo>
                  <a:pt x="2386838" y="494309"/>
                </a:lnTo>
                <a:lnTo>
                  <a:pt x="2408644" y="454964"/>
                </a:lnTo>
                <a:lnTo>
                  <a:pt x="2424849" y="412470"/>
                </a:lnTo>
                <a:lnTo>
                  <a:pt x="2425065" y="411480"/>
                </a:lnTo>
                <a:lnTo>
                  <a:pt x="4204703" y="411480"/>
                </a:lnTo>
                <a:lnTo>
                  <a:pt x="4217162" y="408965"/>
                </a:lnTo>
                <a:lnTo>
                  <a:pt x="4227334" y="402107"/>
                </a:lnTo>
                <a:lnTo>
                  <a:pt x="4234192" y="391934"/>
                </a:lnTo>
                <a:lnTo>
                  <a:pt x="4236720" y="379476"/>
                </a:lnTo>
                <a:lnTo>
                  <a:pt x="4236720" y="321576"/>
                </a:lnTo>
                <a:close/>
              </a:path>
            </a:pathLst>
          </a:custGeom>
          <a:solidFill xmlns:a="http://schemas.openxmlformats.org/drawingml/2006/main">
            <a:srgbClr val="1C977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3D985BFB-192F-4958-80E9-6101C07D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961" y="1883092"/>
            <a:ext cx="162560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spc="-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2000">
              <a:latin typeface="Segoe UI"/>
              <a:ea typeface="Segoe UI"/>
              <a:cs typeface="Segoe UI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A1E7E60-BE87-4184-898B-66EF0A73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979" y="2550010"/>
            <a:ext cx="3711575" cy="144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1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Precision</a:t>
            </a:r>
            <a:endParaRPr sz="21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1300"/>
              </a:lnSpc>
              <a:spcBef>
                <a:spcPts val="815"/>
              </a:spcBef>
              <a:buNone/>
            </a:pP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Indicates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proportion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true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positive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predictions</a:t>
            </a:r>
            <a:r>
              <a:rPr sz="165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among</a:t>
            </a:r>
            <a:r>
              <a:rPr sz="165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all</a:t>
            </a:r>
            <a:r>
              <a:rPr sz="165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positive predictions.</a:t>
            </a:r>
            <a:endParaRPr sz="1650">
              <a:latin typeface="Segoe UI"/>
              <a:ea typeface="Segoe UI"/>
              <a:cs typeface="Segoe UI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A14833A-362F-44D7-AC9D-A5857AF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681403"/>
            <a:ext cx="4236720" cy="640080"/>
          </a:xfrm>
          <a:custGeom xmlns:a="http://schemas.openxmlformats.org/drawingml/2006/main">
            <a:rect l="l" t="t" r="r" b="b"/>
            <a:pathLst>
              <a:path w="4236719" h="640080">
                <a:moveTo>
                  <a:pt x="4236720" y="321576"/>
                </a:moveTo>
                <a:lnTo>
                  <a:pt x="4234205" y="309118"/>
                </a:lnTo>
                <a:lnTo>
                  <a:pt x="4227347" y="298932"/>
                </a:lnTo>
                <a:lnTo>
                  <a:pt x="4217174" y="292074"/>
                </a:lnTo>
                <a:lnTo>
                  <a:pt x="4204716" y="289560"/>
                </a:lnTo>
                <a:lnTo>
                  <a:pt x="2436152" y="289560"/>
                </a:lnTo>
                <a:lnTo>
                  <a:pt x="2434920" y="272745"/>
                </a:lnTo>
                <a:lnTo>
                  <a:pt x="2424849" y="227609"/>
                </a:lnTo>
                <a:lnTo>
                  <a:pt x="2408644" y="185127"/>
                </a:lnTo>
                <a:lnTo>
                  <a:pt x="2386838" y="145783"/>
                </a:lnTo>
                <a:lnTo>
                  <a:pt x="2359888" y="110070"/>
                </a:lnTo>
                <a:lnTo>
                  <a:pt x="2328329" y="78498"/>
                </a:lnTo>
                <a:lnTo>
                  <a:pt x="2292616" y="51562"/>
                </a:lnTo>
                <a:lnTo>
                  <a:pt x="2253272" y="29743"/>
                </a:lnTo>
                <a:lnTo>
                  <a:pt x="2210790" y="13550"/>
                </a:lnTo>
                <a:lnTo>
                  <a:pt x="2165642" y="3479"/>
                </a:lnTo>
                <a:lnTo>
                  <a:pt x="2118360" y="0"/>
                </a:lnTo>
                <a:lnTo>
                  <a:pt x="2071065" y="3479"/>
                </a:lnTo>
                <a:lnTo>
                  <a:pt x="2025916" y="13550"/>
                </a:lnTo>
                <a:lnTo>
                  <a:pt x="1983435" y="29743"/>
                </a:lnTo>
                <a:lnTo>
                  <a:pt x="1944090" y="51562"/>
                </a:lnTo>
                <a:lnTo>
                  <a:pt x="1908378" y="78498"/>
                </a:lnTo>
                <a:lnTo>
                  <a:pt x="1876818" y="110070"/>
                </a:lnTo>
                <a:lnTo>
                  <a:pt x="1849869" y="145783"/>
                </a:lnTo>
                <a:lnTo>
                  <a:pt x="1828063" y="185127"/>
                </a:lnTo>
                <a:lnTo>
                  <a:pt x="1811858" y="227609"/>
                </a:lnTo>
                <a:lnTo>
                  <a:pt x="1801787" y="272745"/>
                </a:lnTo>
                <a:lnTo>
                  <a:pt x="1800542" y="289560"/>
                </a:lnTo>
                <a:lnTo>
                  <a:pt x="32004" y="289560"/>
                </a:lnTo>
                <a:lnTo>
                  <a:pt x="19545" y="292074"/>
                </a:lnTo>
                <a:lnTo>
                  <a:pt x="9372" y="298932"/>
                </a:lnTo>
                <a:lnTo>
                  <a:pt x="2514" y="309118"/>
                </a:lnTo>
                <a:lnTo>
                  <a:pt x="0" y="321576"/>
                </a:lnTo>
                <a:lnTo>
                  <a:pt x="0" y="379476"/>
                </a:lnTo>
                <a:lnTo>
                  <a:pt x="2514" y="391934"/>
                </a:lnTo>
                <a:lnTo>
                  <a:pt x="9372" y="402107"/>
                </a:lnTo>
                <a:lnTo>
                  <a:pt x="19545" y="408965"/>
                </a:lnTo>
                <a:lnTo>
                  <a:pt x="32004" y="411480"/>
                </a:lnTo>
                <a:lnTo>
                  <a:pt x="1811629" y="411480"/>
                </a:lnTo>
                <a:lnTo>
                  <a:pt x="1811858" y="412470"/>
                </a:lnTo>
                <a:lnTo>
                  <a:pt x="1828063" y="454964"/>
                </a:lnTo>
                <a:lnTo>
                  <a:pt x="1849869" y="494309"/>
                </a:lnTo>
                <a:lnTo>
                  <a:pt x="1876818" y="530009"/>
                </a:lnTo>
                <a:lnTo>
                  <a:pt x="1908378" y="561581"/>
                </a:lnTo>
                <a:lnTo>
                  <a:pt x="1944090" y="588518"/>
                </a:lnTo>
                <a:lnTo>
                  <a:pt x="1983435" y="610336"/>
                </a:lnTo>
                <a:lnTo>
                  <a:pt x="2025916" y="626529"/>
                </a:lnTo>
                <a:lnTo>
                  <a:pt x="2071065" y="636612"/>
                </a:lnTo>
                <a:lnTo>
                  <a:pt x="2118360" y="640080"/>
                </a:lnTo>
                <a:lnTo>
                  <a:pt x="2165642" y="636612"/>
                </a:lnTo>
                <a:lnTo>
                  <a:pt x="2210790" y="626529"/>
                </a:lnTo>
                <a:lnTo>
                  <a:pt x="2253272" y="610336"/>
                </a:lnTo>
                <a:lnTo>
                  <a:pt x="2292616" y="588518"/>
                </a:lnTo>
                <a:lnTo>
                  <a:pt x="2328329" y="561581"/>
                </a:lnTo>
                <a:lnTo>
                  <a:pt x="2359888" y="530009"/>
                </a:lnTo>
                <a:lnTo>
                  <a:pt x="2386838" y="494309"/>
                </a:lnTo>
                <a:lnTo>
                  <a:pt x="2408644" y="454964"/>
                </a:lnTo>
                <a:lnTo>
                  <a:pt x="2424849" y="412470"/>
                </a:lnTo>
                <a:lnTo>
                  <a:pt x="2425065" y="411480"/>
                </a:lnTo>
                <a:lnTo>
                  <a:pt x="4204716" y="411480"/>
                </a:lnTo>
                <a:lnTo>
                  <a:pt x="4217174" y="408965"/>
                </a:lnTo>
                <a:lnTo>
                  <a:pt x="4227347" y="402107"/>
                </a:lnTo>
                <a:lnTo>
                  <a:pt x="4234205" y="391934"/>
                </a:lnTo>
                <a:lnTo>
                  <a:pt x="4236720" y="379476"/>
                </a:lnTo>
                <a:lnTo>
                  <a:pt x="4236720" y="321576"/>
                </a:lnTo>
                <a:close/>
              </a:path>
            </a:pathLst>
          </a:custGeom>
          <a:solidFill xmlns:a="http://schemas.openxmlformats.org/drawingml/2006/main">
            <a:srgbClr val="1C977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AC194F97-8986-4CFF-B677-FEEACEFE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342" y="1883092"/>
            <a:ext cx="162560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spc="-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2000">
              <a:latin typeface="Segoe UI"/>
              <a:ea typeface="Segoe UI"/>
              <a:cs typeface="Segoe UI"/>
            </a:endParaR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FAA1970C-E687-46F2-BD2A-3B252372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059" y="2550010"/>
            <a:ext cx="3411854" cy="144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1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Recall</a:t>
            </a:r>
            <a:endParaRPr sz="21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1300"/>
              </a:lnSpc>
              <a:spcBef>
                <a:spcPts val="815"/>
              </a:spcBef>
              <a:buNone/>
            </a:pP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Represents</a:t>
            </a:r>
            <a:r>
              <a:rPr sz="165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65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proportion</a:t>
            </a:r>
            <a:r>
              <a:rPr sz="165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65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true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positive</a:t>
            </a:r>
            <a:r>
              <a:rPr sz="165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predictions</a:t>
            </a:r>
            <a:r>
              <a:rPr sz="165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among</a:t>
            </a:r>
            <a:r>
              <a:rPr sz="165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all</a:t>
            </a:r>
            <a:r>
              <a:rPr sz="165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actual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positive</a:t>
            </a:r>
            <a:r>
              <a:rPr sz="1650" spc="-6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instances.</a:t>
            </a:r>
            <a:endParaRPr sz="1650">
              <a:latin typeface="Segoe UI"/>
              <a:ea typeface="Segoe UI"/>
              <a:cs typeface="Segoe UI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B8F5A59F-7AF2-444E-8B29-92CB4E5D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477473"/>
            <a:ext cx="6461760" cy="640080"/>
          </a:xfrm>
          <a:custGeom xmlns:a="http://schemas.openxmlformats.org/drawingml/2006/main">
            <a:rect l="l" t="t" r="r" b="b"/>
            <a:pathLst>
              <a:path w="6461759" h="640079">
                <a:moveTo>
                  <a:pt x="6461760" y="321564"/>
                </a:moveTo>
                <a:lnTo>
                  <a:pt x="6459233" y="309105"/>
                </a:lnTo>
                <a:lnTo>
                  <a:pt x="6452375" y="298932"/>
                </a:lnTo>
                <a:lnTo>
                  <a:pt x="6442202" y="292074"/>
                </a:lnTo>
                <a:lnTo>
                  <a:pt x="6429743" y="289560"/>
                </a:lnTo>
                <a:lnTo>
                  <a:pt x="3548672" y="289560"/>
                </a:lnTo>
                <a:lnTo>
                  <a:pt x="3547440" y="272745"/>
                </a:lnTo>
                <a:lnTo>
                  <a:pt x="3537369" y="227609"/>
                </a:lnTo>
                <a:lnTo>
                  <a:pt x="3521164" y="185115"/>
                </a:lnTo>
                <a:lnTo>
                  <a:pt x="3499358" y="145770"/>
                </a:lnTo>
                <a:lnTo>
                  <a:pt x="3472408" y="110070"/>
                </a:lnTo>
                <a:lnTo>
                  <a:pt x="3440849" y="78498"/>
                </a:lnTo>
                <a:lnTo>
                  <a:pt x="3405136" y="51562"/>
                </a:lnTo>
                <a:lnTo>
                  <a:pt x="3365792" y="29743"/>
                </a:lnTo>
                <a:lnTo>
                  <a:pt x="3323310" y="13550"/>
                </a:lnTo>
                <a:lnTo>
                  <a:pt x="3278162" y="3467"/>
                </a:lnTo>
                <a:lnTo>
                  <a:pt x="3230880" y="0"/>
                </a:lnTo>
                <a:lnTo>
                  <a:pt x="3183585" y="3467"/>
                </a:lnTo>
                <a:lnTo>
                  <a:pt x="3138436" y="13550"/>
                </a:lnTo>
                <a:lnTo>
                  <a:pt x="3095955" y="29743"/>
                </a:lnTo>
                <a:lnTo>
                  <a:pt x="3056610" y="51562"/>
                </a:lnTo>
                <a:lnTo>
                  <a:pt x="3020898" y="78498"/>
                </a:lnTo>
                <a:lnTo>
                  <a:pt x="2989338" y="110070"/>
                </a:lnTo>
                <a:lnTo>
                  <a:pt x="2962389" y="145770"/>
                </a:lnTo>
                <a:lnTo>
                  <a:pt x="2940583" y="185115"/>
                </a:lnTo>
                <a:lnTo>
                  <a:pt x="2924378" y="227609"/>
                </a:lnTo>
                <a:lnTo>
                  <a:pt x="2914307" y="272745"/>
                </a:lnTo>
                <a:lnTo>
                  <a:pt x="2913062" y="289560"/>
                </a:lnTo>
                <a:lnTo>
                  <a:pt x="32004" y="289560"/>
                </a:lnTo>
                <a:lnTo>
                  <a:pt x="19545" y="292074"/>
                </a:lnTo>
                <a:lnTo>
                  <a:pt x="9372" y="298932"/>
                </a:lnTo>
                <a:lnTo>
                  <a:pt x="2514" y="309105"/>
                </a:lnTo>
                <a:lnTo>
                  <a:pt x="0" y="321564"/>
                </a:lnTo>
                <a:lnTo>
                  <a:pt x="0" y="379463"/>
                </a:lnTo>
                <a:lnTo>
                  <a:pt x="2514" y="391922"/>
                </a:lnTo>
                <a:lnTo>
                  <a:pt x="9372" y="402107"/>
                </a:lnTo>
                <a:lnTo>
                  <a:pt x="19545" y="408965"/>
                </a:lnTo>
                <a:lnTo>
                  <a:pt x="32004" y="411480"/>
                </a:lnTo>
                <a:lnTo>
                  <a:pt x="2924149" y="411480"/>
                </a:lnTo>
                <a:lnTo>
                  <a:pt x="2924378" y="412470"/>
                </a:lnTo>
                <a:lnTo>
                  <a:pt x="2940583" y="454952"/>
                </a:lnTo>
                <a:lnTo>
                  <a:pt x="2962389" y="494296"/>
                </a:lnTo>
                <a:lnTo>
                  <a:pt x="2989338" y="530009"/>
                </a:lnTo>
                <a:lnTo>
                  <a:pt x="3020898" y="561581"/>
                </a:lnTo>
                <a:lnTo>
                  <a:pt x="3056610" y="588518"/>
                </a:lnTo>
                <a:lnTo>
                  <a:pt x="3095955" y="610336"/>
                </a:lnTo>
                <a:lnTo>
                  <a:pt x="3138436" y="626529"/>
                </a:lnTo>
                <a:lnTo>
                  <a:pt x="3183585" y="636600"/>
                </a:lnTo>
                <a:lnTo>
                  <a:pt x="3230880" y="640080"/>
                </a:lnTo>
                <a:lnTo>
                  <a:pt x="3278162" y="636600"/>
                </a:lnTo>
                <a:lnTo>
                  <a:pt x="3323310" y="626529"/>
                </a:lnTo>
                <a:lnTo>
                  <a:pt x="3365792" y="610336"/>
                </a:lnTo>
                <a:lnTo>
                  <a:pt x="3405136" y="588518"/>
                </a:lnTo>
                <a:lnTo>
                  <a:pt x="3440849" y="561581"/>
                </a:lnTo>
                <a:lnTo>
                  <a:pt x="3472408" y="530009"/>
                </a:lnTo>
                <a:lnTo>
                  <a:pt x="3499358" y="494296"/>
                </a:lnTo>
                <a:lnTo>
                  <a:pt x="3521164" y="454952"/>
                </a:lnTo>
                <a:lnTo>
                  <a:pt x="3537369" y="412470"/>
                </a:lnTo>
                <a:lnTo>
                  <a:pt x="3537585" y="411480"/>
                </a:lnTo>
                <a:lnTo>
                  <a:pt x="6429743" y="411480"/>
                </a:lnTo>
                <a:lnTo>
                  <a:pt x="6442202" y="408965"/>
                </a:lnTo>
                <a:lnTo>
                  <a:pt x="6452375" y="402107"/>
                </a:lnTo>
                <a:lnTo>
                  <a:pt x="6459233" y="391922"/>
                </a:lnTo>
                <a:lnTo>
                  <a:pt x="6461760" y="379463"/>
                </a:lnTo>
                <a:lnTo>
                  <a:pt x="6461760" y="321564"/>
                </a:lnTo>
                <a:close/>
              </a:path>
            </a:pathLst>
          </a:custGeom>
          <a:solidFill xmlns:a="http://schemas.openxmlformats.org/drawingml/2006/main">
            <a:srgbClr val="1C977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7DC6F8D5-98A5-4E67-A43A-C504E9D5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250" y="4668005"/>
            <a:ext cx="162560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spc="-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2000">
              <a:latin typeface="Segoe UI"/>
              <a:ea typeface="Segoe UI"/>
              <a:cs typeface="Segoe UI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78CEB8E-1B72-4118-B3C9-6DA01BC4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5346073"/>
            <a:ext cx="5995035" cy="11099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1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F1-</a:t>
            </a:r>
            <a:r>
              <a:rPr sz="21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Score</a:t>
            </a:r>
            <a:endParaRPr sz="21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1300"/>
              </a:lnSpc>
              <a:spcBef>
                <a:spcPts val="815"/>
              </a:spcBef>
              <a:buNone/>
            </a:pP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harmonic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mean</a:t>
            </a:r>
            <a:r>
              <a:rPr sz="16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precision</a:t>
            </a:r>
            <a:r>
              <a:rPr sz="16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recall,</a:t>
            </a:r>
            <a:r>
              <a:rPr sz="16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providing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balanced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measure</a:t>
            </a:r>
            <a:r>
              <a:rPr sz="165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65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performance.</a:t>
            </a:r>
            <a:endParaRPr sz="1650">
              <a:latin typeface="Segoe UI"/>
              <a:ea typeface="Segoe UI"/>
              <a:cs typeface="Segoe UI"/>
            </a:endParaRP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01DB32F2-871A-4F29-82AE-8171D716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4477473"/>
            <a:ext cx="6461760" cy="640080"/>
          </a:xfrm>
          <a:custGeom xmlns:a="http://schemas.openxmlformats.org/drawingml/2006/main">
            <a:rect l="l" t="t" r="r" b="b"/>
            <a:pathLst>
              <a:path w="6461759" h="640079">
                <a:moveTo>
                  <a:pt x="6461760" y="321564"/>
                </a:moveTo>
                <a:lnTo>
                  <a:pt x="6459245" y="309105"/>
                </a:lnTo>
                <a:lnTo>
                  <a:pt x="6452387" y="298932"/>
                </a:lnTo>
                <a:lnTo>
                  <a:pt x="6442215" y="292074"/>
                </a:lnTo>
                <a:lnTo>
                  <a:pt x="6429756" y="289560"/>
                </a:lnTo>
                <a:lnTo>
                  <a:pt x="3548672" y="289560"/>
                </a:lnTo>
                <a:lnTo>
                  <a:pt x="3547440" y="272745"/>
                </a:lnTo>
                <a:lnTo>
                  <a:pt x="3537369" y="227609"/>
                </a:lnTo>
                <a:lnTo>
                  <a:pt x="3521164" y="185115"/>
                </a:lnTo>
                <a:lnTo>
                  <a:pt x="3499358" y="145770"/>
                </a:lnTo>
                <a:lnTo>
                  <a:pt x="3472408" y="110070"/>
                </a:lnTo>
                <a:lnTo>
                  <a:pt x="3440849" y="78498"/>
                </a:lnTo>
                <a:lnTo>
                  <a:pt x="3405136" y="51562"/>
                </a:lnTo>
                <a:lnTo>
                  <a:pt x="3365792" y="29743"/>
                </a:lnTo>
                <a:lnTo>
                  <a:pt x="3323310" y="13550"/>
                </a:lnTo>
                <a:lnTo>
                  <a:pt x="3278162" y="3467"/>
                </a:lnTo>
                <a:lnTo>
                  <a:pt x="3230880" y="0"/>
                </a:lnTo>
                <a:lnTo>
                  <a:pt x="3183585" y="3467"/>
                </a:lnTo>
                <a:lnTo>
                  <a:pt x="3138436" y="13550"/>
                </a:lnTo>
                <a:lnTo>
                  <a:pt x="3095955" y="29743"/>
                </a:lnTo>
                <a:lnTo>
                  <a:pt x="3056610" y="51562"/>
                </a:lnTo>
                <a:lnTo>
                  <a:pt x="3020898" y="78498"/>
                </a:lnTo>
                <a:lnTo>
                  <a:pt x="2989338" y="110070"/>
                </a:lnTo>
                <a:lnTo>
                  <a:pt x="2962389" y="145770"/>
                </a:lnTo>
                <a:lnTo>
                  <a:pt x="2940583" y="185115"/>
                </a:lnTo>
                <a:lnTo>
                  <a:pt x="2924378" y="227609"/>
                </a:lnTo>
                <a:lnTo>
                  <a:pt x="2914307" y="272745"/>
                </a:lnTo>
                <a:lnTo>
                  <a:pt x="2913062" y="289560"/>
                </a:lnTo>
                <a:lnTo>
                  <a:pt x="32004" y="289560"/>
                </a:lnTo>
                <a:lnTo>
                  <a:pt x="19545" y="292074"/>
                </a:lnTo>
                <a:lnTo>
                  <a:pt x="9372" y="298932"/>
                </a:lnTo>
                <a:lnTo>
                  <a:pt x="2514" y="309105"/>
                </a:lnTo>
                <a:lnTo>
                  <a:pt x="0" y="321564"/>
                </a:lnTo>
                <a:lnTo>
                  <a:pt x="0" y="379463"/>
                </a:lnTo>
                <a:lnTo>
                  <a:pt x="2514" y="391922"/>
                </a:lnTo>
                <a:lnTo>
                  <a:pt x="9372" y="402107"/>
                </a:lnTo>
                <a:lnTo>
                  <a:pt x="19545" y="408965"/>
                </a:lnTo>
                <a:lnTo>
                  <a:pt x="32004" y="411480"/>
                </a:lnTo>
                <a:lnTo>
                  <a:pt x="2924149" y="411480"/>
                </a:lnTo>
                <a:lnTo>
                  <a:pt x="2924378" y="412470"/>
                </a:lnTo>
                <a:lnTo>
                  <a:pt x="2940583" y="454952"/>
                </a:lnTo>
                <a:lnTo>
                  <a:pt x="2962389" y="494296"/>
                </a:lnTo>
                <a:lnTo>
                  <a:pt x="2989338" y="530009"/>
                </a:lnTo>
                <a:lnTo>
                  <a:pt x="3020898" y="561581"/>
                </a:lnTo>
                <a:lnTo>
                  <a:pt x="3056610" y="588518"/>
                </a:lnTo>
                <a:lnTo>
                  <a:pt x="3095955" y="610336"/>
                </a:lnTo>
                <a:lnTo>
                  <a:pt x="3138436" y="626529"/>
                </a:lnTo>
                <a:lnTo>
                  <a:pt x="3183585" y="636600"/>
                </a:lnTo>
                <a:lnTo>
                  <a:pt x="3230880" y="640080"/>
                </a:lnTo>
                <a:lnTo>
                  <a:pt x="3278162" y="636600"/>
                </a:lnTo>
                <a:lnTo>
                  <a:pt x="3323310" y="626529"/>
                </a:lnTo>
                <a:lnTo>
                  <a:pt x="3365792" y="610336"/>
                </a:lnTo>
                <a:lnTo>
                  <a:pt x="3405136" y="588518"/>
                </a:lnTo>
                <a:lnTo>
                  <a:pt x="3440849" y="561581"/>
                </a:lnTo>
                <a:lnTo>
                  <a:pt x="3472408" y="530009"/>
                </a:lnTo>
                <a:lnTo>
                  <a:pt x="3499358" y="494296"/>
                </a:lnTo>
                <a:lnTo>
                  <a:pt x="3521164" y="454952"/>
                </a:lnTo>
                <a:lnTo>
                  <a:pt x="3537369" y="412470"/>
                </a:lnTo>
                <a:lnTo>
                  <a:pt x="3537585" y="411480"/>
                </a:lnTo>
                <a:lnTo>
                  <a:pt x="6429756" y="411480"/>
                </a:lnTo>
                <a:lnTo>
                  <a:pt x="6442215" y="408965"/>
                </a:lnTo>
                <a:lnTo>
                  <a:pt x="6452387" y="402107"/>
                </a:lnTo>
                <a:lnTo>
                  <a:pt x="6459245" y="391922"/>
                </a:lnTo>
                <a:lnTo>
                  <a:pt x="6461760" y="379463"/>
                </a:lnTo>
                <a:lnTo>
                  <a:pt x="6461760" y="321564"/>
                </a:lnTo>
                <a:close/>
              </a:path>
            </a:pathLst>
          </a:custGeom>
          <a:solidFill xmlns:a="http://schemas.openxmlformats.org/drawingml/2006/main">
            <a:srgbClr val="1C977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C3145AA-5CAB-4FAF-BB57-0504F658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823" y="4679156"/>
            <a:ext cx="162560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spc="-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  <a:endParaRPr sz="2000">
              <a:latin typeface="Segoe UI"/>
              <a:ea typeface="Segoe UI"/>
              <a:cs typeface="Segoe UI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D090D0DE-15C8-47C5-B5A9-88CE06D9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019" y="5346073"/>
            <a:ext cx="5644515" cy="11099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1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Confusion</a:t>
            </a:r>
            <a:r>
              <a:rPr sz="2100" spc="-1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Matrix</a:t>
            </a:r>
            <a:endParaRPr sz="21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1300"/>
              </a:lnSpc>
              <a:spcBef>
                <a:spcPts val="815"/>
              </a:spcBef>
              <a:buNone/>
            </a:pP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table</a:t>
            </a:r>
            <a:r>
              <a:rPr sz="165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visualizing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performance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algorithm,</a:t>
            </a:r>
            <a:r>
              <a:rPr sz="165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showing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correct</a:t>
            </a:r>
            <a:r>
              <a:rPr sz="165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65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incorrect</a:t>
            </a:r>
            <a:r>
              <a:rPr sz="1650" spc="-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classifications.</a:t>
            </a:r>
            <a:endParaRPr sz="1650">
              <a:latin typeface="Segoe UI"/>
              <a:ea typeface="Segoe UI"/>
              <a:cs typeface="Segoe UI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D91311A8-3F2F-45F8-9725-FBA23D85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59" y="6936475"/>
            <a:ext cx="129362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31300"/>
              </a:lnSpc>
              <a:spcBef>
                <a:spcPts val="100"/>
              </a:spcBef>
              <a:buNone/>
            </a:pPr>
            <a:r>
              <a:rPr sz="16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 report uses accuracy, precision, recall, macro-F1, and confusion matrices on the same cleaned test set. Test labels do not select the model or tie-breaking order.</a:t>
            </a:r>
            <a:endParaRPr sz="165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2728917"/>
      </p:ext>
    </p:extLst>
  </p:cSld>
</p:sld>
</file>

<file path=ppt/slides/slide1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56DDA39-68E3-4960-BE63-0AC0CCA01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9157" y="505789"/>
            <a:ext cx="4388485" cy="6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000"/>
              <a:t>Naive Bayes</a:t>
            </a:r>
            <a:endParaRPr sz="4000"/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3C300A31-48CA-4B3E-8E56-A38655EE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198" y="1209764"/>
            <a:ext cx="10431780" cy="15708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10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Overall accuracy: 67.07%</a:t>
            </a:r>
            <a:endParaRPr sz="21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32080">
              <a:lnSpc>
                <a:spcPct val="100000"/>
              </a:lnSpc>
              <a:spcBef>
                <a:spcPts val="1664"/>
              </a:spcBef>
              <a:buNone/>
            </a:pP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Macro-F1: 0.670</a:t>
            </a:r>
            <a:endParaRPr sz="16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765"/>
              </a:spcBef>
              <a:buNone/>
            </a:pPr>
            <a:r>
              <a:t/>
            </a:r>
            <a:endParaRPr sz="16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892550">
              <a:lnSpc>
                <a:spcPct val="100000"/>
              </a:lnSpc>
              <a:buNone/>
            </a:pPr>
            <a:r>
              <a:rPr sz="155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Multinomial Naive Bayes provides a fast baseline. Its negative precision is higher than SVM's, but its negative recall is lower.</a:t>
            </a:r>
            <a:endParaRPr sz="1550">
              <a:latin typeface="Segoe UI"/>
              <a:ea typeface="Segoe UI"/>
              <a:cs typeface="Segoe UI"/>
            </a:endParaRP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2EA9D5D3-06B9-43A5-8B18-0C536BA2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052" y="5792144"/>
            <a:ext cx="10664190" cy="1229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 b="1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Key observation: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00990" marR="5080">
              <a:lnSpc>
                <a:spcPct val="150000"/>
              </a:lnSpc>
              <a:spcBef>
                <a:spcPts val="835"/>
              </a:spcBef>
              <a:buNone/>
            </a:pPr>
            <a:r>
              <a:rPr sz="18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</a:rPr>
              <a:t>Naive Bayes reaches 67.07% accuracy on the shared 3,529-text test set. It identifies fewer negative texts than SVM, with 55.9% negative recall.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1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0a145e3164b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3317" y="2862830"/>
            <a:ext cx="10463982" cy="261302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CBE86-CF70-458C-A76E-72111577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342" y="2862834"/>
            <a:ext cx="10463975" cy="2612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2353342" y="2862834"/>
          <a:ext xmlns:a="http://schemas.openxmlformats.org/drawingml/2006/main" cx="10463975" cy="2612993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40442"/>
                <a:gridCol w="1955883"/>
                <a:gridCol w="1955883"/>
                <a:gridCol w="1955883"/>
                <a:gridCol w="1955883"/>
              </a:tblGrid>
              <a:tr h="653248">
                <a:tc>
                  <a:txBody>
                    <a:bodyPr/>
                    <a:lstStyle/>
                    <a:p>
                      <a:r>
                        <a:t>Class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Support</a:t>
                      </a:r>
                    </a:p>
                  </a:txBody>
                  <a:tcPr marL="91440" marR="91440" marT="45720" marB="45720"/>
                </a:tc>
              </a:tr>
              <a:tr h="653248">
                <a:tc>
                  <a:txBody>
                    <a:bodyPr/>
                    <a:lstStyle/>
                    <a:p>
                      <a:r>
                        <a:t>Negative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999</a:t>
                      </a:r>
                    </a:p>
                  </a:txBody>
                  <a:tcPr marL="91440" marR="91440" marT="45720" marB="45720"/>
                </a:tc>
              </a:tr>
              <a:tr h="653248">
                <a:tc>
                  <a:txBody>
                    <a:bodyPr/>
                    <a:lstStyle/>
                    <a:p>
                      <a:r>
                        <a:t>Neutral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1,429</a:t>
                      </a:r>
                    </a:p>
                  </a:txBody>
                  <a:tcPr marL="91440" marR="91440" marT="45720" marB="45720"/>
                </a:tc>
              </a:tr>
              <a:tr h="653248">
                <a:tc>
                  <a:txBody>
                    <a:bodyPr/>
                    <a:lstStyle/>
                    <a:p>
                      <a:r>
                        <a:t>Positive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1,101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502082"/>
      </p:ext>
    </p:extLst>
  </p:cSld>
</p:sld>
</file>

<file path=ppt/slides/slide14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9D613764-9EED-43D7-B7FC-4E70686F0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73080" y="649307"/>
            <a:ext cx="2754630" cy="6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000"/>
              <a:t>SVM</a:t>
            </a:r>
            <a:endParaRPr sz="4000"/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D84CE471-00B3-4673-819D-67430E79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984" y="1387652"/>
            <a:ext cx="11597640" cy="19107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40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Overall accuracy: 68.35%</a:t>
            </a:r>
            <a:endParaRPr sz="2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3970" marR="5080">
              <a:lnSpc>
                <a:spcPct val="106500"/>
              </a:lnSpc>
              <a:spcBef>
                <a:spcPts val="2030"/>
              </a:spcBef>
              <a:buNone/>
            </a:pP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Macro-F1: 0.687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015"/>
              </a:spcBef>
              <a:buNone/>
            </a:pPr>
            <a:r>
              <a:t/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440055" algn="ctr">
              <a:lnSpc>
                <a:spcPct val="100000"/>
              </a:lnSpc>
              <a:buNone/>
            </a:pPr>
            <a:r>
              <a:rPr sz="160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Linear SVM gives the stronger overall result on the shared test set and improves negative recall.</a:t>
            </a:r>
            <a:endParaRPr sz="1600">
              <a:latin typeface="Segoe UI"/>
              <a:ea typeface="Segoe UI"/>
              <a:cs typeface="Segoe UI"/>
            </a:endParaRP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A1481D60-7C71-44E6-8DD2-F63489E3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346" y="6194114"/>
            <a:ext cx="12166600" cy="1180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15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Key observation:</a:t>
            </a:r>
            <a:endParaRPr sz="21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69850" marR="5080">
              <a:lnSpc>
                <a:spcPct val="106500"/>
              </a:lnSpc>
              <a:spcBef>
                <a:spcPts val="1910"/>
              </a:spcBef>
              <a:buNone/>
            </a:pP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SVM reaches 68.35% accuracy and 0.687 macro-F1. Negative recall rises to 66.8%, while negative precision is 66.7%.</a:t>
            </a:r>
            <a:endParaRPr sz="1800">
              <a:latin typeface="Segoe UI"/>
              <a:ea typeface="Segoe UI"/>
              <a:cs typeface="Segoe UI"/>
            </a:endParaRPr>
          </a:p>
        </p:txBody>
      </p:sp>
      <p:pic>
        <p:nvPicPr>
          <p:cNvPr id="11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a76f860f84d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64096" y="3462946"/>
            <a:ext cx="10299616" cy="236054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92447-30EC-450A-9D89-B04055D2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060" y="3462909"/>
            <a:ext cx="10299573" cy="23605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2764060" y="3462909"/>
          <a:ext xmlns:a="http://schemas.openxmlformats.org/drawingml/2006/main" cx="10299573" cy="2360581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98958"/>
                <a:gridCol w="1925154"/>
                <a:gridCol w="1925154"/>
                <a:gridCol w="1925154"/>
                <a:gridCol w="1925154"/>
              </a:tblGrid>
              <a:tr h="590145">
                <a:tc>
                  <a:txBody>
                    <a:bodyPr/>
                    <a:lstStyle/>
                    <a:p>
                      <a:r>
                        <a:t>Class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Support</a:t>
                      </a:r>
                    </a:p>
                  </a:txBody>
                  <a:tcPr marL="91440" marR="91440" marT="45720" marB="45720"/>
                </a:tc>
              </a:tr>
              <a:tr h="590145">
                <a:tc>
                  <a:txBody>
                    <a:bodyPr/>
                    <a:lstStyle/>
                    <a:p>
                      <a:r>
                        <a:t>Negative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999</a:t>
                      </a:r>
                    </a:p>
                  </a:txBody>
                  <a:tcPr marL="91440" marR="91440" marT="45720" marB="45720"/>
                </a:tc>
              </a:tr>
              <a:tr h="590145">
                <a:tc>
                  <a:txBody>
                    <a:bodyPr/>
                    <a:lstStyle/>
                    <a:p>
                      <a:r>
                        <a:t>Neutral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1,429</a:t>
                      </a:r>
                    </a:p>
                  </a:txBody>
                  <a:tcPr marL="91440" marR="91440" marT="45720" marB="45720"/>
                </a:tc>
              </a:tr>
              <a:tr h="590145">
                <a:tc>
                  <a:txBody>
                    <a:bodyPr/>
                    <a:lstStyle/>
                    <a:p>
                      <a:r>
                        <a:t>Positive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1,101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226189"/>
      </p:ext>
    </p:extLst>
  </p:cSld>
</p:sld>
</file>

<file path=ppt/slides/slide15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448E256-401B-45ED-BC67-F2AD8EF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39" y="359482"/>
            <a:ext cx="786765" cy="234950"/>
          </a:xfrm>
          <a:custGeom xmlns:a="http://schemas.openxmlformats.org/drawingml/2006/main">
            <a:rect l="l" t="t" r="r" b="b"/>
            <a:pathLst>
              <a:path w="786765" h="234950">
                <a:moveTo>
                  <a:pt x="779457" y="0"/>
                </a:moveTo>
                <a:lnTo>
                  <a:pt x="6712" y="0"/>
                </a:lnTo>
                <a:lnTo>
                  <a:pt x="0" y="6712"/>
                </a:lnTo>
                <a:lnTo>
                  <a:pt x="0" y="14993"/>
                </a:lnTo>
                <a:lnTo>
                  <a:pt x="0" y="228078"/>
                </a:lnTo>
                <a:lnTo>
                  <a:pt x="6712" y="234790"/>
                </a:lnTo>
                <a:lnTo>
                  <a:pt x="779457" y="234790"/>
                </a:lnTo>
                <a:lnTo>
                  <a:pt x="786170" y="228078"/>
                </a:lnTo>
                <a:lnTo>
                  <a:pt x="786170" y="6712"/>
                </a:lnTo>
                <a:lnTo>
                  <a:pt x="779457" y="0"/>
                </a:lnTo>
                <a:close/>
              </a:path>
            </a:pathLst>
          </a:custGeom>
          <a:solidFill xmlns:a="http://schemas.openxmlformats.org/drawingml/2006/main">
            <a:srgbClr val="D4F7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61FBC455-18BD-4258-A7B5-08B73DAA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16" y="413814"/>
            <a:ext cx="57785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KEY</a:t>
            </a:r>
            <a:r>
              <a:rPr sz="75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75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FINDING</a:t>
            </a:r>
            <a:endParaRPr sz="750">
              <a:latin typeface="Segoe UI"/>
              <a:ea typeface="Segoe UI"/>
              <a:cs typeface="Segoe UI"/>
            </a:endParaRP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2EF8207B-8F8D-45C9-9E2B-B6A8123A4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1014" y="731784"/>
            <a:ext cx="7869555" cy="2084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1159510">
              <a:lnSpc>
                <a:spcPts val="6100"/>
              </a:lnSpc>
              <a:spcBef>
                <a:spcPts val="120"/>
              </a:spcBef>
              <a:buNone/>
            </a:pPr>
            <a:r>
              <a:rPr sz="4900"/>
              <a:t>SVM Leads on the Shared Test Set</a:t>
            </a:r>
            <a:endParaRPr sz="4900"/>
          </a:p>
        </p:txBody>
      </p:sp>
      <p:pic>
        <p:nvPicPr>
          <p:cNvPr id="18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18742c3b147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571" y="2918816"/>
            <a:ext cx="7682918" cy="4425553"/>
          </a:xfrm>
          <a:prstGeom xmlns:a="http://schemas.openxmlformats.org/drawingml/2006/main" prst="rect">
            <a:avLst/>
          </a:prstGeom>
        </p:spPr>
      </p:pic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B2882E1-D53E-4CF3-96D9-F1696821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32" y="7547515"/>
            <a:ext cx="7704487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1600"/>
              </a:lnSpc>
              <a:spcBef>
                <a:spcPts val="220"/>
              </a:spcBef>
              <a:buNone/>
            </a:pPr>
            <a:r>
              <a:rPr sz="9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On the same 3,529 held-out texts, Linear SVM scores 68.35% accuracy and 0.687 macro-F1 versus 67.07% and 0.670 for Multinomial Naive Bayes. SVM ranks first on validation macro-F1 and decides split votes.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20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24f6d00dc41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3790" y="2976031"/>
            <a:ext cx="5887271" cy="2116924"/>
          </a:xfrm>
          <a:prstGeom xmlns:a="http://schemas.openxmlformats.org/drawingml/2006/main" prst="rect">
            <a:avLst/>
          </a:prstGeom>
        </p:spPr>
      </p:pic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EB3B961-04D9-4BD5-AE11-878F93E1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381" y="2567386"/>
            <a:ext cx="2621280" cy="269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Table</a:t>
            </a:r>
            <a:r>
              <a:rPr sz="1600" spc="-40">
                <a:latin typeface="Times New Roman"/>
                <a:ea typeface="Times New Roman"/>
                <a:cs typeface="Times New Roman"/>
              </a:rPr>
              <a:t> </a:t>
            </a:r>
            <a:r>
              <a:rPr sz="1600">
                <a:latin typeface="Times New Roman"/>
                <a:ea typeface="Times New Roman"/>
                <a:cs typeface="Times New Roman"/>
              </a:rPr>
              <a:t>3.</a:t>
            </a:r>
            <a:r>
              <a:rPr sz="1600" spc="-40">
                <a:latin typeface="Times New Roman"/>
                <a:ea typeface="Times New Roman"/>
                <a:cs typeface="Times New Roman"/>
              </a:rPr>
              <a:t> </a:t>
            </a:r>
            <a:r>
              <a:rPr sz="1600">
                <a:latin typeface="Times New Roman"/>
                <a:ea typeface="Times New Roman"/>
                <a:cs typeface="Times New Roman"/>
              </a:rPr>
              <a:t>Performance</a:t>
            </a:r>
            <a:r>
              <a:rPr sz="1600" spc="-40">
                <a:latin typeface="Times New Roman"/>
                <a:ea typeface="Times New Roman"/>
                <a:cs typeface="Times New Roman"/>
              </a:rPr>
              <a:t> </a:t>
            </a:r>
            <a:r>
              <a:rPr sz="1600" spc="-10">
                <a:latin typeface="Times New Roman"/>
                <a:ea typeface="Times New Roman"/>
                <a:cs typeface="Times New Roman"/>
              </a:rPr>
              <a:t>Summary</a:t>
            </a:r>
            <a:endParaRPr sz="16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863D1-94E5-4B7D-B4AA-AA98F664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84" y="2918841"/>
            <a:ext cx="7682960" cy="4425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88ADC-B77A-4E20-8C8E-A30C3985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743" y="2975991"/>
            <a:ext cx="5887307" cy="21169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83584" y="2918841"/>
          <a:ext xmlns:a="http://schemas.openxmlformats.org/drawingml/2006/main" cx="7682960" cy="4425506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323d1c572242ff"/>
          </a:graphicData>
        </a:graphic>
      </p:graphicFrame>
      <p:graphicFrame>
        <p:nvGraphicFramePr>
          <p:cNvPr id="25" name=""/>
          <p:cNvGraphicFramePr/>
          <p:nvPr/>
        </p:nvGraphicFramePr>
        <p:xfrm>
          <a:off xmlns:a="http://schemas.openxmlformats.org/drawingml/2006/main" x="8613743" y="2975991"/>
          <a:ext xmlns:a="http://schemas.openxmlformats.org/drawingml/2006/main" cx="5887307" cy="2116931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78928"/>
                <a:gridCol w="1252619"/>
                <a:gridCol w="1252619"/>
                <a:gridCol w="1503142"/>
              </a:tblGrid>
              <a:tr h="705644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Macro-F1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Negative recall</a:t>
                      </a:r>
                    </a:p>
                  </a:txBody>
                  <a:tcPr marL="91440" marR="91440" marT="45720" marB="45720"/>
                </a:tc>
              </a:tr>
              <a:tr h="705644">
                <a:tc>
                  <a:txBody>
                    <a:bodyPr/>
                    <a:lstStyle/>
                    <a:p>
                      <a:r>
                        <a:t>Naive Bayes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67.07%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55.9%</a:t>
                      </a:r>
                    </a:p>
                  </a:txBody>
                  <a:tcPr marL="91440" marR="91440" marT="45720" marB="45720"/>
                </a:tc>
              </a:tr>
              <a:tr h="705644">
                <a:tc>
                  <a:txBody>
                    <a:bodyPr/>
                    <a:lstStyle/>
                    <a:p>
                      <a:r>
                        <a:t>Linear SVM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68.35%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66.8%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265234"/>
      </p:ext>
    </p:extLst>
  </p:cSld>
</p:sld>
</file>

<file path=ppt/slides/slide16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DF71E708-E36E-4264-BBFD-B6D37367A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24465" y="556455"/>
            <a:ext cx="10683240" cy="604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3800"/>
              <a:t>Data and Model Behavior</a:t>
            </a:r>
            <a:endParaRPr sz="3800"/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A68CFD34-F8F9-4193-AC9C-C455D80A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65" y="4693321"/>
            <a:ext cx="3980179" cy="16275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9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Test-set distribution</a:t>
            </a:r>
            <a:endParaRPr sz="19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3300"/>
              </a:lnSpc>
              <a:spcBef>
                <a:spcPts val="735"/>
              </a:spcBef>
              <a:buNone/>
            </a:pPr>
            <a:r>
              <a:rPr sz="15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 cleaned test set contains 1,429 neutral, 1,101 positive, and 999 negative texts.</a:t>
            </a:r>
            <a:endParaRPr sz="1500">
              <a:latin typeface="Segoe UI"/>
              <a:ea typeface="Segoe UI"/>
              <a:cs typeface="Segoe UI"/>
            </a:endParaRP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7F7AAE16-EE6E-41CB-B829-E23F1530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514" y="4693321"/>
            <a:ext cx="3929379" cy="16275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9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Model comparison</a:t>
            </a:r>
            <a:endParaRPr sz="19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3300"/>
              </a:lnSpc>
              <a:spcBef>
                <a:spcPts val="735"/>
              </a:spcBef>
              <a:buNone/>
            </a:pPr>
            <a:r>
              <a:rPr sz="15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SVM improves accuracy from 67.07% to 68.35% and macro-F1 from 0.670 to 0.687.</a:t>
            </a:r>
            <a:endParaRPr sz="1500">
              <a:latin typeface="Segoe UI"/>
              <a:ea typeface="Segoe UI"/>
              <a:cs typeface="Segoe UI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1870FF2-5BDC-4E5F-912F-12B73C9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562" y="4693321"/>
            <a:ext cx="3820795" cy="16275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9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App voting</a:t>
            </a:r>
            <a:endParaRPr sz="19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33300"/>
              </a:lnSpc>
              <a:spcBef>
                <a:spcPts val="735"/>
              </a:spcBef>
              <a:buNone/>
            </a:pPr>
            <a:r>
              <a:rPr sz="15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Agreement selects the shared label. A 1–1 split follows validation ranking; SVM ranks first.</a:t>
            </a:r>
            <a:endParaRPr sz="1500">
              <a:latin typeface="Segoe UI"/>
              <a:ea typeface="Segoe UI"/>
              <a:cs typeface="Segoe UI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FEF4460-562E-4CF0-931E-C452C234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65" y="6545884"/>
            <a:ext cx="12277090" cy="6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33300"/>
              </a:lnSpc>
              <a:spcBef>
                <a:spcPts val="100"/>
              </a:spcBef>
              <a:buNone/>
            </a:pPr>
            <a:r>
              <a:rPr sz="15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App scope: model predictions, held-out metrics, and two-model voting.</a:t>
            </a:r>
            <a:endParaRPr sz="150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2510713"/>
      </p:ext>
    </p:extLst>
  </p:cSld>
</p:sld>
</file>

<file path=ppt/slides/slide17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40FB79B-F8EF-4BE0-BA92-CAAFCBCB6D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46" y="351779"/>
            <a:ext cx="1963420" cy="988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400" spc="-35"/>
              <a:t>Conclusion</a:t>
            </a:r>
          </a:p>
        </p:txBody>
      </p:sp>
      <p:pic>
        <p:nvPicPr>
          <p:cNvPr id="18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dacb49b9e42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581" y="1450776"/>
            <a:ext cx="189667" cy="189667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C53A513E-C7B2-4D29-A389-E6B8D23C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" y="1031839"/>
            <a:ext cx="4887595" cy="19011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Current result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78105" marR="5080" algn="just">
              <a:lnSpc>
                <a:spcPct val="150000"/>
              </a:lnSpc>
              <a:spcBef>
                <a:spcPts val="131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Linear SVM leads on this shared test set with 68.35% accuracy and 0.687 macro-F1. The difference over Naive Bayes is modest, so both models remain useful for comparison.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20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2124626894a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581" y="3469242"/>
            <a:ext cx="189667" cy="189667"/>
          </a:xfrm>
          <a:prstGeom xmlns:a="http://schemas.openxmlformats.org/drawingml/2006/main" prst="rect">
            <a:avLst/>
          </a:prstGeom>
        </p:spPr>
      </p:pic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A75EE455-ADA0-4EAB-AF1A-0FDD8029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392" y="2967077"/>
            <a:ext cx="4721860" cy="1305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ct val="150000"/>
              </a:lnSpc>
              <a:spcBef>
                <a:spcPts val="10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TF-IDF</a:t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 algn="just">
              <a:lnSpc>
                <a:spcPct val="150000"/>
              </a:lnSpc>
              <a:spcBef>
                <a:spcPts val="10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The same TF-IDF representation gives both classifiers a consistent feature space while preserving useful word and punctuation cues.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22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403116d7c4a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581" y="5487710"/>
            <a:ext cx="189667" cy="189667"/>
          </a:xfrm>
          <a:prstGeom xmlns:a="http://schemas.openxmlformats.org/drawingml/2006/main" prst="rect">
            <a:avLst/>
          </a:prstGeom>
        </p:spPr>
      </p:pic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A87B3B3-7AB7-4322-8851-3DF53D05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1" y="4487410"/>
            <a:ext cx="294576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Naive</a:t>
            </a:r>
            <a:r>
              <a:rPr sz="180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Bayes:</a:t>
            </a:r>
            <a:r>
              <a:rPr sz="180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Fast</a:t>
            </a:r>
            <a:r>
              <a:rPr sz="180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but</a:t>
            </a:r>
            <a:r>
              <a:rPr sz="1800" spc="-4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Limited</a:t>
            </a:r>
            <a:endParaRPr sz="1800">
              <a:latin typeface="Segoe UI"/>
              <a:ea typeface="Segoe UI"/>
              <a:cs typeface="Segoe UI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7F4AB26-189E-4905-9399-E7D0B45C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392" y="4988765"/>
            <a:ext cx="4721860" cy="1305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ct val="150000"/>
              </a:lnSpc>
              <a:spcBef>
                <a:spcPts val="10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Naive Bayes</a:t>
            </a:r>
            <a:endParaRPr sz="1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 algn="just">
              <a:lnSpc>
                <a:spcPct val="150000"/>
              </a:lnSpc>
              <a:spcBef>
                <a:spcPts val="100"/>
              </a:spcBef>
              <a:buNone/>
            </a:pP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Naive Bayes offers a fast baseline at 67.07% accuracy. The app keeps it alongside SVM and uses SVM to resolve split votes because SVM ranks higher on validation data.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83A0E491-06BB-44B2-BD40-725ACFDF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513" y="1139188"/>
            <a:ext cx="23196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00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System</a:t>
            </a:r>
            <a:r>
              <a:rPr sz="2000" spc="-75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00" spc="-1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Applications:</a:t>
            </a:r>
            <a:endParaRPr sz="2000">
              <a:latin typeface="Segoe UI"/>
              <a:ea typeface="Segoe UI"/>
              <a:cs typeface="Segoe UI"/>
            </a:endParaR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C9F79311-1EB4-4404-85E0-800BD1B1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569" y="1546596"/>
            <a:ext cx="5400040" cy="665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marR="5080" indent="-342900">
              <a:lnSpc>
                <a:spcPct val="150000"/>
              </a:lnSpc>
              <a:spcBef>
                <a:spcPts val="100"/>
              </a:spcBef>
              <a:buFont typeface="Segoe UI"/>
              <a:buChar char="•"/>
              <a:tabLst>
                <a:tab pos="355600" algn="l"/>
              </a:tabLst>
            </a:pP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Customer</a:t>
            </a:r>
            <a:r>
              <a:rPr sz="1400" b="1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Feedback</a:t>
            </a:r>
            <a:r>
              <a:rPr sz="1400" b="1" spc="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Analysis:</a:t>
            </a:r>
            <a:r>
              <a:rPr sz="1400" b="1" spc="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Understand</a:t>
            </a:r>
            <a:r>
              <a:rPr sz="1400" spc="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customer</a:t>
            </a:r>
            <a:r>
              <a:rPr sz="1400" spc="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from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reviews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comments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improve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products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services.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DFE9A094-BCB2-4A53-9E98-23978900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569" y="2646875"/>
            <a:ext cx="5500370" cy="665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marR="5080" indent="-342900">
              <a:lnSpc>
                <a:spcPct val="150000"/>
              </a:lnSpc>
              <a:spcBef>
                <a:spcPts val="100"/>
              </a:spcBef>
              <a:buFont typeface="Segoe UI"/>
              <a:buChar char="•"/>
              <a:tabLst>
                <a:tab pos="355600" algn="l"/>
                <a:tab pos="982980" algn="l"/>
                <a:tab pos="2105025" algn="l"/>
                <a:tab pos="2650490" algn="l"/>
                <a:tab pos="3257550" algn="l"/>
                <a:tab pos="4234815" algn="l"/>
                <a:tab pos="4523740" algn="l"/>
                <a:tab pos="5191125" algn="l"/>
              </a:tabLst>
            </a:pPr>
            <a:r>
              <a:rPr sz="1400" b="1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Brand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00" b="1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Monitoring: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Track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public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perception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brands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14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campaigns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across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social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media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400" spc="-2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news</a:t>
            </a:r>
            <a:r>
              <a:rPr sz="14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outlets.</a:t>
            </a:r>
            <a:endParaRPr sz="1400">
              <a:latin typeface="Segoe UI"/>
              <a:ea typeface="Segoe UI"/>
              <a:cs typeface="Segoe UI"/>
            </a:endParaRP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36F35F80-58C7-41EB-A99D-8494EDE4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388" y="3619977"/>
            <a:ext cx="5500370" cy="665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marR="5080" indent="-342900">
              <a:lnSpc>
                <a:spcPct val="150000"/>
              </a:lnSpc>
              <a:spcBef>
                <a:spcPts val="100"/>
              </a:spcBef>
              <a:buFont typeface="Segoe UI"/>
              <a:buChar char="•"/>
              <a:tabLst>
                <a:tab pos="355600" algn="l"/>
              </a:tabLst>
            </a:pP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Social</a:t>
            </a:r>
            <a:r>
              <a:rPr sz="1400" b="1" spc="3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Analytics:</a:t>
            </a:r>
            <a:r>
              <a:rPr sz="1400" b="1" spc="39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Gain</a:t>
            </a:r>
            <a:r>
              <a:rPr sz="1400" spc="3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insights</a:t>
            </a:r>
            <a:r>
              <a:rPr sz="1400" spc="3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into</a:t>
            </a:r>
            <a:r>
              <a:rPr sz="1400" spc="3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public</a:t>
            </a:r>
            <a:r>
              <a:rPr sz="1400" spc="3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opinion,</a:t>
            </a:r>
            <a:r>
              <a:rPr sz="1400" spc="38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emerging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trends,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4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overall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from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large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social</a:t>
            </a:r>
            <a:r>
              <a:rPr sz="1400" spc="-3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datasets.</a:t>
            </a:r>
            <a:endParaRPr sz="140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87209217"/>
      </p:ext>
    </p:extLst>
  </p:cSld>
</p:sld>
</file>

<file path=ppt/slides/slide18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2918281A-6971-4448-8C5B-78EFBBBF6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6255" y="913441"/>
            <a:ext cx="2302510" cy="505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3150"/>
              <a:t>Future</a:t>
            </a:r>
            <a:r>
              <a:rPr sz="3150" spc="-200"/>
              <a:t> </a:t>
            </a:r>
            <a:r>
              <a:rPr sz="3150" spc="-25"/>
              <a:t>Scope</a:t>
            </a:r>
            <a:endParaRPr sz="3150"/>
          </a:p>
        </p:txBody>
      </p:sp>
      <p:pic>
        <p:nvPicPr>
          <p:cNvPr id="13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2b5df7f4f4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21835" y="2043229"/>
            <a:ext cx="801053" cy="1179313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87CE53C8-A36B-4A71-9FA3-575448BA4B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t>Deep</a:t>
            </a:r>
            <a:r>
              <a:rPr spc="-70"/>
              <a:t> </a:t>
            </a:r>
            <a:r>
              <a:t>Learning</a:t>
            </a:r>
            <a:r>
              <a:rPr spc="-65"/>
              <a:t> </a:t>
            </a:r>
            <a:r>
              <a:rPr spc="-10"/>
              <a:t>Integration</a:t>
            </a:r>
          </a:p>
          <a:p xmlns:a="http://schemas.openxmlformats.org/drawingml/2006/main">
            <a:pPr marL="57785" marR="5080">
              <a:lnSpc>
                <a:spcPct val="104200"/>
              </a:lnSpc>
              <a:spcBef>
                <a:spcPts val="1085"/>
              </a:spcBef>
              <a:buNone/>
            </a:pPr>
            <a:r>
              <a:rPr sz="1600"/>
              <a:t>Explore</a:t>
            </a:r>
            <a:r>
              <a:rPr sz="1600" spc="175"/>
              <a:t> </a:t>
            </a:r>
            <a:r>
              <a:rPr sz="1600"/>
              <a:t>advanced</a:t>
            </a:r>
            <a:r>
              <a:rPr sz="1600" spc="175"/>
              <a:t> </a:t>
            </a:r>
            <a:r>
              <a:rPr sz="1600"/>
              <a:t>architectures</a:t>
            </a:r>
            <a:r>
              <a:rPr sz="1600" spc="175"/>
              <a:t> </a:t>
            </a:r>
            <a:r>
              <a:rPr sz="1600"/>
              <a:t>like</a:t>
            </a:r>
            <a:r>
              <a:rPr sz="1600" spc="180"/>
              <a:t> </a:t>
            </a:r>
            <a:r>
              <a:rPr sz="1600"/>
              <a:t>BERT</a:t>
            </a:r>
            <a:r>
              <a:rPr sz="1600" spc="175"/>
              <a:t> </a:t>
            </a:r>
            <a:r>
              <a:rPr sz="1600"/>
              <a:t>and</a:t>
            </a:r>
            <a:r>
              <a:rPr sz="1600" spc="175"/>
              <a:t> </a:t>
            </a:r>
            <a:r>
              <a:rPr sz="1600"/>
              <a:t>LSTM</a:t>
            </a:r>
            <a:r>
              <a:rPr sz="1600" spc="180"/>
              <a:t> </a:t>
            </a:r>
            <a:r>
              <a:rPr sz="1600"/>
              <a:t>to</a:t>
            </a:r>
            <a:r>
              <a:rPr sz="1600" spc="175"/>
              <a:t> </a:t>
            </a:r>
            <a:r>
              <a:rPr sz="1600"/>
              <a:t>capture</a:t>
            </a:r>
            <a:r>
              <a:rPr sz="1600" spc="175"/>
              <a:t> </a:t>
            </a:r>
            <a:r>
              <a:rPr sz="1600"/>
              <a:t>more</a:t>
            </a:r>
            <a:r>
              <a:rPr sz="1600" spc="175"/>
              <a:t> </a:t>
            </a:r>
            <a:r>
              <a:rPr sz="1600"/>
              <a:t>complex</a:t>
            </a:r>
            <a:r>
              <a:rPr sz="1600" spc="180"/>
              <a:t> </a:t>
            </a:r>
            <a:r>
              <a:rPr sz="1600" spc="-10"/>
              <a:t>linguistic </a:t>
            </a:r>
            <a:r>
              <a:rPr sz="1600"/>
              <a:t>features</a:t>
            </a:r>
            <a:r>
              <a:rPr sz="1600" spc="-5"/>
              <a:t> </a:t>
            </a:r>
            <a:r>
              <a:rPr sz="1600"/>
              <a:t>and</a:t>
            </a:r>
            <a:r>
              <a:rPr sz="1600" spc="-5"/>
              <a:t> </a:t>
            </a:r>
            <a:r>
              <a:rPr sz="1600"/>
              <a:t>contextual nuances</a:t>
            </a:r>
            <a:r>
              <a:rPr sz="1600" spc="-5"/>
              <a:t> </a:t>
            </a:r>
            <a:r>
              <a:rPr sz="1600"/>
              <a:t>for</a:t>
            </a:r>
            <a:r>
              <a:rPr sz="1600" spc="-5"/>
              <a:t> </a:t>
            </a:r>
            <a:r>
              <a:rPr sz="1600"/>
              <a:t>improved </a:t>
            </a:r>
            <a:r>
              <a:rPr sz="1600" spc="-10"/>
              <a:t>accuracy.</a:t>
            </a:r>
            <a:endParaRPr sz="1600"/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600"/>
          </a:p>
          <a:p xmlns:a="http://schemas.openxmlformats.org/drawingml/2006/main">
            <a:pPr>
              <a:lnSpc>
                <a:spcPct val="100000"/>
              </a:lnSpc>
              <a:spcBef>
                <a:spcPts val="434"/>
              </a:spcBef>
              <a:buNone/>
            </a:pPr>
            <a:endParaRPr sz="1600"/>
          </a:p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pc="-10"/>
              <a:t>Sarcasm</a:t>
            </a:r>
            <a:r>
              <a:rPr spc="-75"/>
              <a:t> </a:t>
            </a:r>
            <a:r>
              <a:rPr spc="-10"/>
              <a:t>Detection</a:t>
            </a:r>
          </a:p>
          <a:p xmlns:a="http://schemas.openxmlformats.org/drawingml/2006/main">
            <a:pPr marL="57785" marR="93980">
              <a:lnSpc>
                <a:spcPct val="104200"/>
              </a:lnSpc>
              <a:spcBef>
                <a:spcPts val="869"/>
              </a:spcBef>
              <a:buNone/>
            </a:pPr>
            <a:r>
              <a:rPr sz="1600"/>
              <a:t>Develop</a:t>
            </a:r>
            <a:r>
              <a:rPr sz="1600" spc="295"/>
              <a:t> </a:t>
            </a:r>
            <a:r>
              <a:rPr sz="1600"/>
              <a:t>specialized</a:t>
            </a:r>
            <a:r>
              <a:rPr sz="1600" spc="295"/>
              <a:t> </a:t>
            </a:r>
            <a:r>
              <a:rPr sz="1600"/>
              <a:t>modules</a:t>
            </a:r>
            <a:r>
              <a:rPr sz="1600" spc="295"/>
              <a:t> </a:t>
            </a:r>
            <a:r>
              <a:rPr sz="1600"/>
              <a:t>for</a:t>
            </a:r>
            <a:r>
              <a:rPr sz="1600" spc="295"/>
              <a:t> </a:t>
            </a:r>
            <a:r>
              <a:rPr sz="1600"/>
              <a:t>identifying</a:t>
            </a:r>
            <a:r>
              <a:rPr sz="1600" spc="295"/>
              <a:t> </a:t>
            </a:r>
            <a:r>
              <a:rPr sz="1600"/>
              <a:t>sarcasm</a:t>
            </a:r>
            <a:r>
              <a:rPr sz="1600" spc="300"/>
              <a:t> </a:t>
            </a:r>
            <a:r>
              <a:rPr sz="1600"/>
              <a:t>and</a:t>
            </a:r>
            <a:r>
              <a:rPr sz="1600" spc="295"/>
              <a:t> </a:t>
            </a:r>
            <a:r>
              <a:rPr sz="1600"/>
              <a:t>irony,</a:t>
            </a:r>
            <a:r>
              <a:rPr sz="1600" spc="295"/>
              <a:t> </a:t>
            </a:r>
            <a:r>
              <a:rPr sz="1600"/>
              <a:t>a</a:t>
            </a:r>
            <a:r>
              <a:rPr sz="1600" spc="295"/>
              <a:t> </a:t>
            </a:r>
            <a:r>
              <a:rPr sz="1600"/>
              <a:t>major</a:t>
            </a:r>
            <a:r>
              <a:rPr sz="1600" spc="295"/>
              <a:t> </a:t>
            </a:r>
            <a:r>
              <a:rPr sz="1600"/>
              <a:t>challenge</a:t>
            </a:r>
            <a:r>
              <a:rPr sz="1600" spc="300"/>
              <a:t> </a:t>
            </a:r>
            <a:r>
              <a:rPr sz="1600" spc="-25"/>
              <a:t>in </a:t>
            </a:r>
            <a:r>
              <a:rPr sz="1600"/>
              <a:t>sentiment analysis, to enhance model </a:t>
            </a:r>
            <a:r>
              <a:rPr sz="1600" spc="-10"/>
              <a:t>intelligence.</a:t>
            </a:r>
            <a:endParaRPr sz="1600"/>
          </a:p>
        </p:txBody>
      </p:sp>
      <p:pic>
        <p:nvPicPr>
          <p:cNvPr id="15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502c5d19f45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21835" y="3559552"/>
            <a:ext cx="801053" cy="1179313"/>
          </a:xfrm>
          <a:prstGeom xmlns:a="http://schemas.openxmlformats.org/drawingml/2006/main" prst="rect">
            <a:avLst/>
          </a:prstGeom>
        </p:spPr>
      </p:pic>
      <p:pic>
        <p:nvPicPr>
          <p:cNvPr id="16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01e8e7f5f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21835" y="5075874"/>
            <a:ext cx="801053" cy="1179313"/>
          </a:xfrm>
          <a:prstGeom xmlns:a="http://schemas.openxmlformats.org/drawingml/2006/main" prst="rect">
            <a:avLst/>
          </a:prstGeom>
        </p:spPr>
      </p:pic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20B4C476-2CDF-4EF4-B40A-86AD1CDF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352" y="5070090"/>
            <a:ext cx="8004809" cy="251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Multilingual</a:t>
            </a:r>
            <a:r>
              <a:rPr sz="1800" spc="-1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57785" marR="5080">
              <a:lnSpc>
                <a:spcPct val="104200"/>
              </a:lnSpc>
              <a:spcBef>
                <a:spcPts val="1455"/>
              </a:spcBef>
              <a:buNone/>
            </a:pP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Expand</a:t>
            </a:r>
            <a:r>
              <a:rPr sz="1600" spc="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model</a:t>
            </a:r>
            <a:r>
              <a:rPr sz="1600" spc="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capabilities</a:t>
            </a:r>
            <a:r>
              <a:rPr sz="1600" spc="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1600" spc="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analyze</a:t>
            </a:r>
            <a:r>
              <a:rPr sz="1600" spc="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sentiment</a:t>
            </a:r>
            <a:r>
              <a:rPr sz="1600" spc="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600" spc="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multiple</a:t>
            </a:r>
            <a:r>
              <a:rPr sz="1600" spc="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languages,</a:t>
            </a:r>
            <a:r>
              <a:rPr sz="1600" spc="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opening</a:t>
            </a:r>
            <a:r>
              <a:rPr sz="1600" spc="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doors</a:t>
            </a:r>
            <a:r>
              <a:rPr sz="1600" spc="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spc="-2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to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broader</a:t>
            </a:r>
            <a:r>
              <a:rPr sz="16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global</a:t>
            </a:r>
            <a:r>
              <a:rPr sz="16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applications</a:t>
            </a:r>
            <a:r>
              <a:rPr sz="16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600" spc="-1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insights.</a:t>
            </a:r>
            <a:endParaRPr sz="16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6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45"/>
              </a:spcBef>
              <a:buNone/>
            </a:pPr>
            <a:endParaRPr sz="16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8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Real-</a:t>
            </a:r>
            <a:r>
              <a:rPr sz="18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time</a:t>
            </a:r>
            <a:r>
              <a:rPr sz="1800" spc="-3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Deployment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57785" marR="8255">
              <a:lnSpc>
                <a:spcPct val="104200"/>
              </a:lnSpc>
              <a:spcBef>
                <a:spcPts val="1505"/>
              </a:spcBef>
              <a:buNone/>
            </a:pP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Implement the sentiment analysis system for </a:t>
            </a:r>
            <a:r>
              <a:rPr sz="1600" spc="-4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real-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time</a:t>
            </a:r>
            <a:r>
              <a:rPr sz="1600" spc="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data streams, enabling </a:t>
            </a:r>
            <a:r>
              <a:rPr sz="16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immediate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insights</a:t>
            </a:r>
            <a:r>
              <a:rPr sz="160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60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responsive actions</a:t>
            </a:r>
            <a:r>
              <a:rPr sz="160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600" spc="-5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dynamic </a:t>
            </a:r>
            <a:r>
              <a:rPr sz="1600" spc="-10">
                <a:solidFill>
                  <a:srgbClr val="464646"/>
                </a:solidFill>
                <a:latin typeface="Segoe UI"/>
                <a:ea typeface="Segoe UI"/>
                <a:cs typeface="Segoe UI"/>
              </a:rPr>
              <a:t>environments.</a:t>
            </a:r>
            <a:endParaRPr sz="1600">
              <a:latin typeface="Segoe UI"/>
              <a:ea typeface="Segoe UI"/>
              <a:cs typeface="Segoe UI"/>
            </a:endParaRPr>
          </a:p>
        </p:txBody>
      </p:sp>
      <p:pic>
        <p:nvPicPr>
          <p:cNvPr id="18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fe2e5da76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21835" y="6592196"/>
            <a:ext cx="801053" cy="11793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82076"/>
      </p:ext>
    </p:extLst>
  </p:cSld>
</p:sld>
</file>

<file path=ppt/slides/slide19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6E2B083-F5F4-48AD-A04E-078071140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9821" y="32060"/>
            <a:ext cx="1637030" cy="452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100" b="1" spc="-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References</a:t>
            </a:r>
            <a:endParaRPr sz="2800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79CD2388-4F79-4270-A6DE-44E58984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21" y="515638"/>
            <a:ext cx="13982700" cy="7432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0000"/>
              </a:lnSpc>
              <a:spcBef>
                <a:spcPts val="100"/>
              </a:spcBef>
              <a:buNone/>
            </a:pPr>
            <a:r>
              <a:rPr sz="1125">
                <a:latin typeface="Calibri"/>
                <a:ea typeface="Calibri"/>
                <a:cs typeface="Calibri"/>
              </a:rPr>
              <a:t>[1] W. Zhang et al., “Sentiment Analysis in the Era of Large Language Models: A Reality Check,” arXiv:2305.15005, 2023.</a:t>
            </a:r>
            <a:endParaRPr sz="180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 marR="5080">
              <a:lnSpc>
                <a:spcPct val="150000"/>
              </a:lnSpc>
              <a:buNone/>
            </a:pPr>
            <a:r>
              <a:rPr sz="1125">
                <a:latin typeface="Calibri"/>
                <a:ea typeface="Calibri"/>
                <a:cs typeface="Calibri"/>
              </a:rPr>
              <a:t>[2] H. Yang et al., “Large Language Models Meet Text-Centric Multimodal Sentiment Analysis: A Survey,” arXiv:2406.08068, 2024.</a:t>
            </a:r>
            <a:endParaRPr sz="180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 marR="5080">
              <a:lnSpc>
                <a:spcPct val="150000"/>
              </a:lnSpc>
              <a:buNone/>
            </a:pPr>
            <a:r>
              <a:rPr sz="1125">
                <a:latin typeface="Calibri"/>
                <a:ea typeface="Calibri"/>
                <a:cs typeface="Calibri"/>
              </a:rPr>
              <a:t>[3] P. N. Venkit et al., “The Sentiment Problem: A Critical Survey towards Deconstructing Sentiment Analysis,” arXiv:2310.12318, 2023.</a:t>
            </a:r>
            <a:endParaRPr sz="180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 marR="24130">
              <a:lnSpc>
                <a:spcPct val="150000"/>
              </a:lnSpc>
              <a:buNone/>
            </a:pPr>
            <a:r>
              <a:rPr sz="1125">
                <a:latin typeface="Calibri"/>
                <a:ea typeface="Calibri"/>
                <a:cs typeface="Calibri"/>
              </a:rPr>
              <a:t>[4] Y. Liu et al., “A Survey of Quantum-Cognitively Inspired Sentiment Analysis Models,” arXiv:2306.03608, 2023.</a:t>
            </a:r>
            <a:endParaRPr sz="180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 marR="5080">
              <a:lnSpc>
                <a:spcPct val="150000"/>
              </a:lnSpc>
              <a:buNone/>
            </a:pPr>
            <a:r>
              <a:rPr sz="1125">
                <a:latin typeface="Calibri"/>
                <a:ea typeface="Calibri"/>
                <a:cs typeface="Calibri"/>
              </a:rPr>
              <a:t>[5] B. Pang, L. Lee, and S. Vaithyanathan, “Thumbs up? Sentiment Classification using Machine Learning Techniques,” EMNLP, 79–86, 2002.</a:t>
            </a:r>
            <a:endParaRPr sz="180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080"/>
              </a:spcBef>
              <a:buNone/>
            </a:pPr>
            <a:r>
              <a:rPr sz="1125">
                <a:latin typeface="Calibri"/>
                <a:ea typeface="Calibri"/>
                <a:cs typeface="Calibri"/>
              </a:rPr>
              <a:t>[6] S. Wang and C. Manning, “Baselines and Bigrams: Simple, Good Sentiment and Topic Classification,” ACL, 90–94, 2012.</a:t>
            </a:r>
            <a:endParaRPr sz="180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080"/>
              </a:spcBef>
              <a:buNone/>
            </a:pPr>
            <a:r>
              <a:rPr sz="1125" spc="-20">
                <a:latin typeface="Calibri"/>
                <a:ea typeface="Calibri"/>
                <a:cs typeface="Calibri"/>
              </a:rPr>
              <a:t>[7] scikit-learn API documentation: TfidfVectorizer, MultinomialNB, and LinearSVC. scikit-learn.org/stable/api/sklearn.html</a:t>
            </a:r>
            <a:endParaRPr sz="180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080"/>
              </a:spcBef>
              <a:buNone/>
            </a:pPr>
            <a:r>
              <a:rPr sz="1125">
                <a:latin typeface="Calibri"/>
                <a:ea typeface="Calibri"/>
                <a:cs typeface="Calibri"/>
              </a:rPr>
              <a:t>[8] Current project evaluation report: artifacts/sentiment.json, generated from the repository training pipeline.</a:t>
            </a:r>
            <a:endParaRPr sz="1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3447967"/>
      </p:ext>
    </p:extLst>
  </p:cSld>
</p:sld>
</file>

<file path=ppt/slides/slide20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9D37E817-653D-44F7-B7DC-1959599F3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600"/>
              <a:t>Thank</a:t>
            </a:r>
            <a:r>
              <a:rPr sz="9600" spc="-575"/>
              <a:t> </a:t>
            </a:r>
            <a:r>
              <a:rPr sz="9600" spc="-95"/>
              <a:t>You</a:t>
            </a:r>
            <a:endParaRPr sz="9600"/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513D2B3F-D76A-42AD-A416-32522DEF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930" y="4158028"/>
            <a:ext cx="2733040" cy="7035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450" spc="-40">
                <a:solidFill>
                  <a:srgbClr val="030303"/>
                </a:solidFill>
                <a:latin typeface="Segoe UI"/>
                <a:ea typeface="Segoe UI"/>
                <a:cs typeface="Segoe UI"/>
              </a:rPr>
              <a:t>Questions?</a:t>
            </a:r>
            <a:endParaRPr sz="445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302959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2026-10-07T18:28:39.5480000Z</dcterms:created>
  <dcterms:modified xsi:type="dcterms:W3CDTF">2026-10-07T18:28:39.5480000Z</dcterms:modified>
</coreProperties>
</file>